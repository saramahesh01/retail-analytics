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png"/><Relationship Id="rId1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png"/><Relationship Id="rId1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0B9FB7-1471-4F85-9FB3-6159DF969709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4B21A79-32DE-4B1A-9FBC-9D03DFCDC0C5}">
      <dgm:prSet custT="1"/>
      <dgm:spPr/>
      <dgm:t>
        <a:bodyPr/>
        <a:lstStyle/>
        <a:p>
          <a:r>
            <a:rPr lang="en-US" sz="1400" b="1" dirty="0"/>
            <a:t>Phase 1: Python (Cleaning &amp; Engineering):</a:t>
          </a:r>
          <a:r>
            <a:rPr lang="en-US" sz="1400" dirty="0"/>
            <a:t> Handled 800+ customers and 3,000 orders. Fixed leap-year date errors and imputed missing ages by gender-median.</a:t>
          </a:r>
          <a:endParaRPr lang="en-IN" sz="1400" dirty="0"/>
        </a:p>
      </dgm:t>
    </dgm:pt>
    <dgm:pt modelId="{54CABC1D-09BB-4C67-AD97-D6A68974D2C1}" type="parTrans" cxnId="{42302088-17B9-4836-8341-460E93CD5AEA}">
      <dgm:prSet/>
      <dgm:spPr/>
      <dgm:t>
        <a:bodyPr/>
        <a:lstStyle/>
        <a:p>
          <a:endParaRPr lang="en-IN"/>
        </a:p>
      </dgm:t>
    </dgm:pt>
    <dgm:pt modelId="{D706098A-FF4D-495F-8381-C0671972A6EA}" type="sibTrans" cxnId="{42302088-17B9-4836-8341-460E93CD5AEA}">
      <dgm:prSet/>
      <dgm:spPr/>
      <dgm:t>
        <a:bodyPr/>
        <a:lstStyle/>
        <a:p>
          <a:endParaRPr lang="en-IN"/>
        </a:p>
      </dgm:t>
    </dgm:pt>
    <dgm:pt modelId="{C6FA23E9-76E5-4C47-8A81-96D984CB8377}">
      <dgm:prSet custT="1"/>
      <dgm:spPr/>
      <dgm:t>
        <a:bodyPr/>
        <a:lstStyle/>
        <a:p>
          <a:r>
            <a:rPr lang="en-US" sz="1400" b="1" dirty="0"/>
            <a:t>Phase 2: SQL Server (Analysis):</a:t>
          </a:r>
          <a:r>
            <a:rPr lang="en-US" sz="1400" dirty="0"/>
            <a:t> Migrated cleaned data to a relational DB. Executed complex queries (Joins, CTEs, Window Functions) to identify the $516K annual revenue vs. total sales.</a:t>
          </a:r>
          <a:endParaRPr lang="en-IN" sz="1400" dirty="0"/>
        </a:p>
      </dgm:t>
    </dgm:pt>
    <dgm:pt modelId="{301BE7FD-61D5-4433-910C-46F90D2DD4DA}" type="parTrans" cxnId="{1CFA0708-F764-480A-BA90-551E5AC1B73F}">
      <dgm:prSet/>
      <dgm:spPr/>
      <dgm:t>
        <a:bodyPr/>
        <a:lstStyle/>
        <a:p>
          <a:endParaRPr lang="en-IN"/>
        </a:p>
      </dgm:t>
    </dgm:pt>
    <dgm:pt modelId="{233F4159-B75E-4877-94D9-5DC7E93F6C80}" type="sibTrans" cxnId="{1CFA0708-F764-480A-BA90-551E5AC1B73F}">
      <dgm:prSet/>
      <dgm:spPr/>
      <dgm:t>
        <a:bodyPr/>
        <a:lstStyle/>
        <a:p>
          <a:endParaRPr lang="en-IN"/>
        </a:p>
      </dgm:t>
    </dgm:pt>
    <dgm:pt modelId="{E492C618-00D8-43C0-A5B2-9FB318FF08D8}">
      <dgm:prSet custT="1"/>
      <dgm:spPr/>
      <dgm:t>
        <a:bodyPr/>
        <a:lstStyle/>
        <a:p>
          <a:r>
            <a:rPr lang="en-US" sz="1400" b="1" dirty="0"/>
            <a:t>Phase 3: Power BI (Visualization):</a:t>
          </a:r>
          <a:r>
            <a:rPr lang="en-US" sz="1400" dirty="0"/>
            <a:t> Created a Star Schema model with DAX measures for </a:t>
          </a:r>
          <a:r>
            <a:rPr lang="en-US" sz="1400" b="1" dirty="0"/>
            <a:t>Churn Rate</a:t>
          </a:r>
          <a:r>
            <a:rPr lang="en-US" sz="1400" dirty="0"/>
            <a:t> and </a:t>
          </a:r>
          <a:r>
            <a:rPr lang="en-US" sz="1400" b="1" dirty="0"/>
            <a:t>90-Day Activity</a:t>
          </a:r>
          <a:r>
            <a:rPr lang="en-US" sz="1400" dirty="0"/>
            <a:t>.</a:t>
          </a:r>
          <a:endParaRPr lang="en-IN" sz="1400" dirty="0"/>
        </a:p>
      </dgm:t>
    </dgm:pt>
    <dgm:pt modelId="{C9758486-2AD6-410D-BFCC-6000C29ED2EF}" type="parTrans" cxnId="{24E8E8CA-7249-45FF-BB18-AA76D293AFAF}">
      <dgm:prSet/>
      <dgm:spPr/>
      <dgm:t>
        <a:bodyPr/>
        <a:lstStyle/>
        <a:p>
          <a:endParaRPr lang="en-IN"/>
        </a:p>
      </dgm:t>
    </dgm:pt>
    <dgm:pt modelId="{7FEDBDA8-10F1-42F8-80DE-1F9AA654E34A}" type="sibTrans" cxnId="{24E8E8CA-7249-45FF-BB18-AA76D293AFAF}">
      <dgm:prSet/>
      <dgm:spPr/>
      <dgm:t>
        <a:bodyPr/>
        <a:lstStyle/>
        <a:p>
          <a:endParaRPr lang="en-IN"/>
        </a:p>
      </dgm:t>
    </dgm:pt>
    <dgm:pt modelId="{AC635D00-EB48-42D6-98FA-A49B55EA5809}" type="pres">
      <dgm:prSet presAssocID="{130B9FB7-1471-4F85-9FB3-6159DF969709}" presName="linear" presStyleCnt="0">
        <dgm:presLayoutVars>
          <dgm:dir/>
          <dgm:animLvl val="lvl"/>
          <dgm:resizeHandles val="exact"/>
        </dgm:presLayoutVars>
      </dgm:prSet>
      <dgm:spPr/>
    </dgm:pt>
    <dgm:pt modelId="{6433F282-85F7-402E-ACEC-41EB8DB4AA17}" type="pres">
      <dgm:prSet presAssocID="{54B21A79-32DE-4B1A-9FBC-9D03DFCDC0C5}" presName="parentLin" presStyleCnt="0"/>
      <dgm:spPr/>
    </dgm:pt>
    <dgm:pt modelId="{F2D69FB2-5DE8-49D6-9E69-4D09F6194BB4}" type="pres">
      <dgm:prSet presAssocID="{54B21A79-32DE-4B1A-9FBC-9D03DFCDC0C5}" presName="parentLeftMargin" presStyleLbl="node1" presStyleIdx="0" presStyleCnt="3"/>
      <dgm:spPr/>
    </dgm:pt>
    <dgm:pt modelId="{2A580294-A795-4DA1-87F5-D126E5684D05}" type="pres">
      <dgm:prSet presAssocID="{54B21A79-32DE-4B1A-9FBC-9D03DFCDC0C5}" presName="parentText" presStyleLbl="node1" presStyleIdx="0" presStyleCnt="3" custScaleY="317166">
        <dgm:presLayoutVars>
          <dgm:chMax val="0"/>
          <dgm:bulletEnabled val="1"/>
        </dgm:presLayoutVars>
      </dgm:prSet>
      <dgm:spPr/>
    </dgm:pt>
    <dgm:pt modelId="{E796337D-0179-4C18-B025-D3C338706E43}" type="pres">
      <dgm:prSet presAssocID="{54B21A79-32DE-4B1A-9FBC-9D03DFCDC0C5}" presName="negativeSpace" presStyleCnt="0"/>
      <dgm:spPr/>
    </dgm:pt>
    <dgm:pt modelId="{59C38B55-4406-4658-A58C-5496C17B68B8}" type="pres">
      <dgm:prSet presAssocID="{54B21A79-32DE-4B1A-9FBC-9D03DFCDC0C5}" presName="childText" presStyleLbl="conFgAcc1" presStyleIdx="0" presStyleCnt="3">
        <dgm:presLayoutVars>
          <dgm:bulletEnabled val="1"/>
        </dgm:presLayoutVars>
      </dgm:prSet>
      <dgm:spPr/>
    </dgm:pt>
    <dgm:pt modelId="{3E3270A5-8F7C-4443-9490-14F20DB0735F}" type="pres">
      <dgm:prSet presAssocID="{D706098A-FF4D-495F-8381-C0671972A6EA}" presName="spaceBetweenRectangles" presStyleCnt="0"/>
      <dgm:spPr/>
    </dgm:pt>
    <dgm:pt modelId="{BE010244-CB82-478C-BE73-C324EE35B9B6}" type="pres">
      <dgm:prSet presAssocID="{C6FA23E9-76E5-4C47-8A81-96D984CB8377}" presName="parentLin" presStyleCnt="0"/>
      <dgm:spPr/>
    </dgm:pt>
    <dgm:pt modelId="{85F8E5EA-03CF-430D-9858-08903952B4F3}" type="pres">
      <dgm:prSet presAssocID="{C6FA23E9-76E5-4C47-8A81-96D984CB8377}" presName="parentLeftMargin" presStyleLbl="node1" presStyleIdx="0" presStyleCnt="3"/>
      <dgm:spPr/>
    </dgm:pt>
    <dgm:pt modelId="{3196180A-09DE-4857-971B-9683710DA584}" type="pres">
      <dgm:prSet presAssocID="{C6FA23E9-76E5-4C47-8A81-96D984CB8377}" presName="parentText" presStyleLbl="node1" presStyleIdx="1" presStyleCnt="3" custScaleY="272809">
        <dgm:presLayoutVars>
          <dgm:chMax val="0"/>
          <dgm:bulletEnabled val="1"/>
        </dgm:presLayoutVars>
      </dgm:prSet>
      <dgm:spPr/>
    </dgm:pt>
    <dgm:pt modelId="{0A98EA4A-B939-4EA0-88E8-25F06CA596B8}" type="pres">
      <dgm:prSet presAssocID="{C6FA23E9-76E5-4C47-8A81-96D984CB8377}" presName="negativeSpace" presStyleCnt="0"/>
      <dgm:spPr/>
    </dgm:pt>
    <dgm:pt modelId="{FCC7A61E-5170-435D-A5BA-7E96E3ACBD5B}" type="pres">
      <dgm:prSet presAssocID="{C6FA23E9-76E5-4C47-8A81-96D984CB8377}" presName="childText" presStyleLbl="conFgAcc1" presStyleIdx="1" presStyleCnt="3">
        <dgm:presLayoutVars>
          <dgm:bulletEnabled val="1"/>
        </dgm:presLayoutVars>
      </dgm:prSet>
      <dgm:spPr/>
    </dgm:pt>
    <dgm:pt modelId="{52F3B3FF-43CC-4264-9D95-2E59243C73B4}" type="pres">
      <dgm:prSet presAssocID="{233F4159-B75E-4877-94D9-5DC7E93F6C80}" presName="spaceBetweenRectangles" presStyleCnt="0"/>
      <dgm:spPr/>
    </dgm:pt>
    <dgm:pt modelId="{7EEE5699-6737-4FD7-9FBB-8FFFF47FEB74}" type="pres">
      <dgm:prSet presAssocID="{E492C618-00D8-43C0-A5B2-9FB318FF08D8}" presName="parentLin" presStyleCnt="0"/>
      <dgm:spPr/>
    </dgm:pt>
    <dgm:pt modelId="{4AD8CA72-C7A5-4D20-A8A9-96A4E7B0F5FB}" type="pres">
      <dgm:prSet presAssocID="{E492C618-00D8-43C0-A5B2-9FB318FF08D8}" presName="parentLeftMargin" presStyleLbl="node1" presStyleIdx="1" presStyleCnt="3"/>
      <dgm:spPr/>
    </dgm:pt>
    <dgm:pt modelId="{A9E84CED-D9C8-44F4-A025-01DA8A20FC26}" type="pres">
      <dgm:prSet presAssocID="{E492C618-00D8-43C0-A5B2-9FB318FF08D8}" presName="parentText" presStyleLbl="node1" presStyleIdx="2" presStyleCnt="3" custScaleY="322412">
        <dgm:presLayoutVars>
          <dgm:chMax val="0"/>
          <dgm:bulletEnabled val="1"/>
        </dgm:presLayoutVars>
      </dgm:prSet>
      <dgm:spPr/>
    </dgm:pt>
    <dgm:pt modelId="{3FE36192-7B32-4752-A2F3-229BB5B1C3BF}" type="pres">
      <dgm:prSet presAssocID="{E492C618-00D8-43C0-A5B2-9FB318FF08D8}" presName="negativeSpace" presStyleCnt="0"/>
      <dgm:spPr/>
    </dgm:pt>
    <dgm:pt modelId="{908599EA-6ED3-460D-917C-2C9F45214472}" type="pres">
      <dgm:prSet presAssocID="{E492C618-00D8-43C0-A5B2-9FB318FF08D8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1CFA0708-F764-480A-BA90-551E5AC1B73F}" srcId="{130B9FB7-1471-4F85-9FB3-6159DF969709}" destId="{C6FA23E9-76E5-4C47-8A81-96D984CB8377}" srcOrd="1" destOrd="0" parTransId="{301BE7FD-61D5-4433-910C-46F90D2DD4DA}" sibTransId="{233F4159-B75E-4877-94D9-5DC7E93F6C80}"/>
    <dgm:cxn modelId="{E51BEF0A-18F4-4C83-830C-53920EC5E85D}" type="presOf" srcId="{130B9FB7-1471-4F85-9FB3-6159DF969709}" destId="{AC635D00-EB48-42D6-98FA-A49B55EA5809}" srcOrd="0" destOrd="0" presId="urn:microsoft.com/office/officeart/2005/8/layout/list1"/>
    <dgm:cxn modelId="{EBEDA57B-5A13-48C3-8998-27B558C1E7A7}" type="presOf" srcId="{E492C618-00D8-43C0-A5B2-9FB318FF08D8}" destId="{4AD8CA72-C7A5-4D20-A8A9-96A4E7B0F5FB}" srcOrd="0" destOrd="0" presId="urn:microsoft.com/office/officeart/2005/8/layout/list1"/>
    <dgm:cxn modelId="{42302088-17B9-4836-8341-460E93CD5AEA}" srcId="{130B9FB7-1471-4F85-9FB3-6159DF969709}" destId="{54B21A79-32DE-4B1A-9FBC-9D03DFCDC0C5}" srcOrd="0" destOrd="0" parTransId="{54CABC1D-09BB-4C67-AD97-D6A68974D2C1}" sibTransId="{D706098A-FF4D-495F-8381-C0671972A6EA}"/>
    <dgm:cxn modelId="{580B3B8F-464C-4EC2-9F8F-26A286DDB386}" type="presOf" srcId="{C6FA23E9-76E5-4C47-8A81-96D984CB8377}" destId="{3196180A-09DE-4857-971B-9683710DA584}" srcOrd="1" destOrd="0" presId="urn:microsoft.com/office/officeart/2005/8/layout/list1"/>
    <dgm:cxn modelId="{8FDA47C6-6312-4E33-AB9B-4AE952A6343C}" type="presOf" srcId="{E492C618-00D8-43C0-A5B2-9FB318FF08D8}" destId="{A9E84CED-D9C8-44F4-A025-01DA8A20FC26}" srcOrd="1" destOrd="0" presId="urn:microsoft.com/office/officeart/2005/8/layout/list1"/>
    <dgm:cxn modelId="{24E8E8CA-7249-45FF-BB18-AA76D293AFAF}" srcId="{130B9FB7-1471-4F85-9FB3-6159DF969709}" destId="{E492C618-00D8-43C0-A5B2-9FB318FF08D8}" srcOrd="2" destOrd="0" parTransId="{C9758486-2AD6-410D-BFCC-6000C29ED2EF}" sibTransId="{7FEDBDA8-10F1-42F8-80DE-1F9AA654E34A}"/>
    <dgm:cxn modelId="{188344D1-30E9-44FC-98DF-C9F0755D9796}" type="presOf" srcId="{54B21A79-32DE-4B1A-9FBC-9D03DFCDC0C5}" destId="{2A580294-A795-4DA1-87F5-D126E5684D05}" srcOrd="1" destOrd="0" presId="urn:microsoft.com/office/officeart/2005/8/layout/list1"/>
    <dgm:cxn modelId="{89AE44E2-4230-40DA-A724-A725989AAC0D}" type="presOf" srcId="{C6FA23E9-76E5-4C47-8A81-96D984CB8377}" destId="{85F8E5EA-03CF-430D-9858-08903952B4F3}" srcOrd="0" destOrd="0" presId="urn:microsoft.com/office/officeart/2005/8/layout/list1"/>
    <dgm:cxn modelId="{2B8956FF-9EC6-4167-9914-96C0BC11FF3B}" type="presOf" srcId="{54B21A79-32DE-4B1A-9FBC-9D03DFCDC0C5}" destId="{F2D69FB2-5DE8-49D6-9E69-4D09F6194BB4}" srcOrd="0" destOrd="0" presId="urn:microsoft.com/office/officeart/2005/8/layout/list1"/>
    <dgm:cxn modelId="{1C6F4BA4-95AF-481C-A187-C61DA289F259}" type="presParOf" srcId="{AC635D00-EB48-42D6-98FA-A49B55EA5809}" destId="{6433F282-85F7-402E-ACEC-41EB8DB4AA17}" srcOrd="0" destOrd="0" presId="urn:microsoft.com/office/officeart/2005/8/layout/list1"/>
    <dgm:cxn modelId="{A3E5D930-1BD0-456B-ACA2-10771C5DEF3E}" type="presParOf" srcId="{6433F282-85F7-402E-ACEC-41EB8DB4AA17}" destId="{F2D69FB2-5DE8-49D6-9E69-4D09F6194BB4}" srcOrd="0" destOrd="0" presId="urn:microsoft.com/office/officeart/2005/8/layout/list1"/>
    <dgm:cxn modelId="{9623D6FD-46EC-4F08-BF48-324500F80C77}" type="presParOf" srcId="{6433F282-85F7-402E-ACEC-41EB8DB4AA17}" destId="{2A580294-A795-4DA1-87F5-D126E5684D05}" srcOrd="1" destOrd="0" presId="urn:microsoft.com/office/officeart/2005/8/layout/list1"/>
    <dgm:cxn modelId="{8A4C7F25-E6FB-47DB-A842-C6C4FC95BDA0}" type="presParOf" srcId="{AC635D00-EB48-42D6-98FA-A49B55EA5809}" destId="{E796337D-0179-4C18-B025-D3C338706E43}" srcOrd="1" destOrd="0" presId="urn:microsoft.com/office/officeart/2005/8/layout/list1"/>
    <dgm:cxn modelId="{17C34934-2506-48D7-A8CF-1502C65BB2D2}" type="presParOf" srcId="{AC635D00-EB48-42D6-98FA-A49B55EA5809}" destId="{59C38B55-4406-4658-A58C-5496C17B68B8}" srcOrd="2" destOrd="0" presId="urn:microsoft.com/office/officeart/2005/8/layout/list1"/>
    <dgm:cxn modelId="{F101BF18-7423-426F-88AE-25BE45E68A73}" type="presParOf" srcId="{AC635D00-EB48-42D6-98FA-A49B55EA5809}" destId="{3E3270A5-8F7C-4443-9490-14F20DB0735F}" srcOrd="3" destOrd="0" presId="urn:microsoft.com/office/officeart/2005/8/layout/list1"/>
    <dgm:cxn modelId="{18C7EE18-8156-42A0-AF65-4228D387C4D8}" type="presParOf" srcId="{AC635D00-EB48-42D6-98FA-A49B55EA5809}" destId="{BE010244-CB82-478C-BE73-C324EE35B9B6}" srcOrd="4" destOrd="0" presId="urn:microsoft.com/office/officeart/2005/8/layout/list1"/>
    <dgm:cxn modelId="{9CFF5B0C-AE4E-4C91-A6AF-3C11361E0255}" type="presParOf" srcId="{BE010244-CB82-478C-BE73-C324EE35B9B6}" destId="{85F8E5EA-03CF-430D-9858-08903952B4F3}" srcOrd="0" destOrd="0" presId="urn:microsoft.com/office/officeart/2005/8/layout/list1"/>
    <dgm:cxn modelId="{B3CA749C-B13D-4B42-A4FF-F60485DEACED}" type="presParOf" srcId="{BE010244-CB82-478C-BE73-C324EE35B9B6}" destId="{3196180A-09DE-4857-971B-9683710DA584}" srcOrd="1" destOrd="0" presId="urn:microsoft.com/office/officeart/2005/8/layout/list1"/>
    <dgm:cxn modelId="{50008DB9-9439-4AC7-B11D-BEDB5EFDDF37}" type="presParOf" srcId="{AC635D00-EB48-42D6-98FA-A49B55EA5809}" destId="{0A98EA4A-B939-4EA0-88E8-25F06CA596B8}" srcOrd="5" destOrd="0" presId="urn:microsoft.com/office/officeart/2005/8/layout/list1"/>
    <dgm:cxn modelId="{C1C34450-FC68-406D-9A26-6FA3CF78EF6F}" type="presParOf" srcId="{AC635D00-EB48-42D6-98FA-A49B55EA5809}" destId="{FCC7A61E-5170-435D-A5BA-7E96E3ACBD5B}" srcOrd="6" destOrd="0" presId="urn:microsoft.com/office/officeart/2005/8/layout/list1"/>
    <dgm:cxn modelId="{B74E388F-2AEB-4143-A75C-2E4185017160}" type="presParOf" srcId="{AC635D00-EB48-42D6-98FA-A49B55EA5809}" destId="{52F3B3FF-43CC-4264-9D95-2E59243C73B4}" srcOrd="7" destOrd="0" presId="urn:microsoft.com/office/officeart/2005/8/layout/list1"/>
    <dgm:cxn modelId="{CA938CE2-35E8-4D89-BC73-63002D937254}" type="presParOf" srcId="{AC635D00-EB48-42D6-98FA-A49B55EA5809}" destId="{7EEE5699-6737-4FD7-9FBB-8FFFF47FEB74}" srcOrd="8" destOrd="0" presId="urn:microsoft.com/office/officeart/2005/8/layout/list1"/>
    <dgm:cxn modelId="{87678CE7-BAD9-42B8-A78F-92686EEB7041}" type="presParOf" srcId="{7EEE5699-6737-4FD7-9FBB-8FFFF47FEB74}" destId="{4AD8CA72-C7A5-4D20-A8A9-96A4E7B0F5FB}" srcOrd="0" destOrd="0" presId="urn:microsoft.com/office/officeart/2005/8/layout/list1"/>
    <dgm:cxn modelId="{30F04C2A-E2AD-4523-B1C8-686658CB0847}" type="presParOf" srcId="{7EEE5699-6737-4FD7-9FBB-8FFFF47FEB74}" destId="{A9E84CED-D9C8-44F4-A025-01DA8A20FC26}" srcOrd="1" destOrd="0" presId="urn:microsoft.com/office/officeart/2005/8/layout/list1"/>
    <dgm:cxn modelId="{AA8DB708-5ECF-4569-B156-400EA7C1F0ED}" type="presParOf" srcId="{AC635D00-EB48-42D6-98FA-A49B55EA5809}" destId="{3FE36192-7B32-4752-A2F3-229BB5B1C3BF}" srcOrd="9" destOrd="0" presId="urn:microsoft.com/office/officeart/2005/8/layout/list1"/>
    <dgm:cxn modelId="{CD909818-2438-40EB-A2F4-4D87F6540B85}" type="presParOf" srcId="{AC635D00-EB48-42D6-98FA-A49B55EA5809}" destId="{908599EA-6ED3-460D-917C-2C9F45214472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4C4A28D-91CB-470E-A295-4B4EAFFC56BB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5E5736A-96A9-46E9-9514-AC1119CD871E}">
      <dgm:prSet custT="1"/>
      <dgm:spPr/>
      <dgm:t>
        <a:bodyPr/>
        <a:lstStyle/>
        <a:p>
          <a:r>
            <a:rPr lang="en-US" sz="1800" b="1" i="0" baseline="0" dirty="0"/>
            <a:t>Top Performers:</a:t>
          </a:r>
          <a:r>
            <a:rPr lang="en-US" sz="1800" b="0" i="0" baseline="0" dirty="0"/>
            <a:t> Identified </a:t>
          </a:r>
          <a:r>
            <a:rPr lang="en-US" sz="1800" b="1" i="0" baseline="0" dirty="0"/>
            <a:t>BrandC House</a:t>
          </a:r>
          <a:r>
            <a:rPr lang="en-US" sz="1800" b="0" i="0" baseline="0" dirty="0"/>
            <a:t> (40 units) and </a:t>
          </a:r>
          <a:r>
            <a:rPr lang="en-US" sz="1800" b="1" i="0" baseline="0" dirty="0"/>
            <a:t>BrandA Feel</a:t>
          </a:r>
          <a:r>
            <a:rPr lang="en-US" sz="1800" b="0" i="0" baseline="0" dirty="0"/>
            <a:t> (33 units) as high-turnover traffic drivers.</a:t>
          </a:r>
          <a:endParaRPr lang="en-IN" sz="1800" dirty="0"/>
        </a:p>
      </dgm:t>
    </dgm:pt>
    <dgm:pt modelId="{A208EE0C-F6D8-4FE0-9A1B-D39CB6E43DA3}" type="parTrans" cxnId="{31C5E45A-65B0-4C26-A9C5-7AF3DC71F6D1}">
      <dgm:prSet/>
      <dgm:spPr/>
      <dgm:t>
        <a:bodyPr/>
        <a:lstStyle/>
        <a:p>
          <a:endParaRPr lang="en-IN"/>
        </a:p>
      </dgm:t>
    </dgm:pt>
    <dgm:pt modelId="{6C39AB79-EE17-4240-AB71-26A20BEEE904}" type="sibTrans" cxnId="{31C5E45A-65B0-4C26-A9C5-7AF3DC71F6D1}">
      <dgm:prSet/>
      <dgm:spPr/>
      <dgm:t>
        <a:bodyPr/>
        <a:lstStyle/>
        <a:p>
          <a:endParaRPr lang="en-IN"/>
        </a:p>
      </dgm:t>
    </dgm:pt>
    <dgm:pt modelId="{7F580769-34A4-4B3F-B4A4-AB784C32354D}">
      <dgm:prSet custT="1"/>
      <dgm:spPr/>
      <dgm:t>
        <a:bodyPr/>
        <a:lstStyle/>
        <a:p>
          <a:r>
            <a:rPr lang="en-US" sz="1800" b="1" i="0" baseline="0" dirty="0"/>
            <a:t>Operational Risk:</a:t>
          </a:r>
          <a:r>
            <a:rPr lang="en-US" sz="1800" b="0" i="0" baseline="0" dirty="0"/>
            <a:t> Used SQL to pinpoint that </a:t>
          </a:r>
          <a:r>
            <a:rPr lang="en-US" sz="1800" b="1" i="0" baseline="0" dirty="0"/>
            <a:t>Home &amp; Kitchen</a:t>
          </a:r>
          <a:r>
            <a:rPr lang="en-US" sz="1800" b="0" i="0" baseline="0" dirty="0"/>
            <a:t> have the highest return rate (5.2%), identifying specific "Profit Killers."</a:t>
          </a:r>
          <a:endParaRPr lang="en-IN" sz="1800" dirty="0"/>
        </a:p>
      </dgm:t>
    </dgm:pt>
    <dgm:pt modelId="{26B78D27-A4C8-48F6-A032-087FDAF6D5A0}" type="parTrans" cxnId="{12F6B0E9-83A4-4434-8A46-A5A805A73224}">
      <dgm:prSet/>
      <dgm:spPr/>
      <dgm:t>
        <a:bodyPr/>
        <a:lstStyle/>
        <a:p>
          <a:endParaRPr lang="en-IN"/>
        </a:p>
      </dgm:t>
    </dgm:pt>
    <dgm:pt modelId="{AF13CC90-43B5-4B15-AD1B-F64CDCC9C31A}" type="sibTrans" cxnId="{12F6B0E9-83A4-4434-8A46-A5A805A73224}">
      <dgm:prSet/>
      <dgm:spPr/>
      <dgm:t>
        <a:bodyPr/>
        <a:lstStyle/>
        <a:p>
          <a:endParaRPr lang="en-IN"/>
        </a:p>
      </dgm:t>
    </dgm:pt>
    <dgm:pt modelId="{F658E99C-9784-4CD3-B11B-AECA526B1754}">
      <dgm:prSet custT="1"/>
      <dgm:spPr/>
      <dgm:t>
        <a:bodyPr/>
        <a:lstStyle/>
        <a:p>
          <a:r>
            <a:rPr lang="en-US" sz="1800" b="1" i="0" baseline="0" dirty="0"/>
            <a:t>Customer Value:</a:t>
          </a:r>
          <a:r>
            <a:rPr lang="en-US" sz="1800" b="0" i="0" baseline="0" dirty="0"/>
            <a:t> Verified that top-tier customers like </a:t>
          </a:r>
          <a:r>
            <a:rPr lang="en-US" sz="1800" b="1" i="0" baseline="0" dirty="0"/>
            <a:t>Kathy and Christopher </a:t>
          </a:r>
          <a:r>
            <a:rPr lang="en-US" sz="1800" b="0" i="0" baseline="0" dirty="0"/>
            <a:t>contribute significantly more to net profit through long-term loyalty.</a:t>
          </a:r>
          <a:endParaRPr lang="en-IN" sz="1800" dirty="0"/>
        </a:p>
      </dgm:t>
    </dgm:pt>
    <dgm:pt modelId="{DF4AB548-CCFF-49FD-AD98-FCCB9409EFE9}" type="parTrans" cxnId="{17F3AD13-1169-4753-AFF0-A58238187B3F}">
      <dgm:prSet/>
      <dgm:spPr/>
      <dgm:t>
        <a:bodyPr/>
        <a:lstStyle/>
        <a:p>
          <a:endParaRPr lang="en-IN"/>
        </a:p>
      </dgm:t>
    </dgm:pt>
    <dgm:pt modelId="{10B2662F-9C45-4A29-9D70-E24F4A57C587}" type="sibTrans" cxnId="{17F3AD13-1169-4753-AFF0-A58238187B3F}">
      <dgm:prSet/>
      <dgm:spPr/>
      <dgm:t>
        <a:bodyPr/>
        <a:lstStyle/>
        <a:p>
          <a:endParaRPr lang="en-IN"/>
        </a:p>
      </dgm:t>
    </dgm:pt>
    <dgm:pt modelId="{C27331A2-B8CA-4CFD-9A1D-FE305CBE2C91}" type="pres">
      <dgm:prSet presAssocID="{E4C4A28D-91CB-470E-A295-4B4EAFFC56BB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76FE39F3-C2E1-43C5-BE6A-1F50EF07C923}" type="pres">
      <dgm:prSet presAssocID="{A5E5736A-96A9-46E9-9514-AC1119CD871E}" presName="circle1" presStyleLbl="node1" presStyleIdx="0" presStyleCnt="3"/>
      <dgm:spPr/>
    </dgm:pt>
    <dgm:pt modelId="{4E7FCF5B-6688-41E6-AB86-CF28899E3432}" type="pres">
      <dgm:prSet presAssocID="{A5E5736A-96A9-46E9-9514-AC1119CD871E}" presName="space" presStyleCnt="0"/>
      <dgm:spPr/>
    </dgm:pt>
    <dgm:pt modelId="{5C94AF7A-DFB2-4A9D-A388-17AB7A641F09}" type="pres">
      <dgm:prSet presAssocID="{A5E5736A-96A9-46E9-9514-AC1119CD871E}" presName="rect1" presStyleLbl="alignAcc1" presStyleIdx="0" presStyleCnt="3"/>
      <dgm:spPr/>
    </dgm:pt>
    <dgm:pt modelId="{AC9F734E-98E8-480C-8D68-95CAE6B1BFD4}" type="pres">
      <dgm:prSet presAssocID="{7F580769-34A4-4B3F-B4A4-AB784C32354D}" presName="vertSpace2" presStyleLbl="node1" presStyleIdx="0" presStyleCnt="3"/>
      <dgm:spPr/>
    </dgm:pt>
    <dgm:pt modelId="{1B571BF4-2150-4FA6-B4EC-9819593832E0}" type="pres">
      <dgm:prSet presAssocID="{7F580769-34A4-4B3F-B4A4-AB784C32354D}" presName="circle2" presStyleLbl="node1" presStyleIdx="1" presStyleCnt="3"/>
      <dgm:spPr/>
    </dgm:pt>
    <dgm:pt modelId="{1F550C22-0BF9-42E6-95AE-EBFB13C8A7EC}" type="pres">
      <dgm:prSet presAssocID="{7F580769-34A4-4B3F-B4A4-AB784C32354D}" presName="rect2" presStyleLbl="alignAcc1" presStyleIdx="1" presStyleCnt="3"/>
      <dgm:spPr/>
    </dgm:pt>
    <dgm:pt modelId="{838A2B59-B9EC-4F46-A50A-904AFD3636DC}" type="pres">
      <dgm:prSet presAssocID="{F658E99C-9784-4CD3-B11B-AECA526B1754}" presName="vertSpace3" presStyleLbl="node1" presStyleIdx="1" presStyleCnt="3"/>
      <dgm:spPr/>
    </dgm:pt>
    <dgm:pt modelId="{731E212B-E310-442D-A017-81E2BCCA9F68}" type="pres">
      <dgm:prSet presAssocID="{F658E99C-9784-4CD3-B11B-AECA526B1754}" presName="circle3" presStyleLbl="node1" presStyleIdx="2" presStyleCnt="3"/>
      <dgm:spPr/>
    </dgm:pt>
    <dgm:pt modelId="{B7028C45-C1F9-4371-A65E-E3C6CAE0D5F1}" type="pres">
      <dgm:prSet presAssocID="{F658E99C-9784-4CD3-B11B-AECA526B1754}" presName="rect3" presStyleLbl="alignAcc1" presStyleIdx="2" presStyleCnt="3"/>
      <dgm:spPr/>
    </dgm:pt>
    <dgm:pt modelId="{2C0B7EA5-5180-42E8-8FD4-657D1C5785A4}" type="pres">
      <dgm:prSet presAssocID="{A5E5736A-96A9-46E9-9514-AC1119CD871E}" presName="rect1ParTxNoCh" presStyleLbl="alignAcc1" presStyleIdx="2" presStyleCnt="3">
        <dgm:presLayoutVars>
          <dgm:chMax val="1"/>
          <dgm:bulletEnabled val="1"/>
        </dgm:presLayoutVars>
      </dgm:prSet>
      <dgm:spPr/>
    </dgm:pt>
    <dgm:pt modelId="{1968F701-3B05-4661-9747-0A0B45EE6D4E}" type="pres">
      <dgm:prSet presAssocID="{7F580769-34A4-4B3F-B4A4-AB784C32354D}" presName="rect2ParTxNoCh" presStyleLbl="alignAcc1" presStyleIdx="2" presStyleCnt="3">
        <dgm:presLayoutVars>
          <dgm:chMax val="1"/>
          <dgm:bulletEnabled val="1"/>
        </dgm:presLayoutVars>
      </dgm:prSet>
      <dgm:spPr/>
    </dgm:pt>
    <dgm:pt modelId="{54B81C9D-2FE1-4DFB-ADA3-6A9EE3E7484A}" type="pres">
      <dgm:prSet presAssocID="{F658E99C-9784-4CD3-B11B-AECA526B1754}" presName="rect3ParTxNoCh" presStyleLbl="alignAcc1" presStyleIdx="2" presStyleCnt="3">
        <dgm:presLayoutVars>
          <dgm:chMax val="1"/>
          <dgm:bulletEnabled val="1"/>
        </dgm:presLayoutVars>
      </dgm:prSet>
      <dgm:spPr/>
    </dgm:pt>
  </dgm:ptLst>
  <dgm:cxnLst>
    <dgm:cxn modelId="{CFAE9711-3614-4B68-9F19-302B3058AF80}" type="presOf" srcId="{A5E5736A-96A9-46E9-9514-AC1119CD871E}" destId="{2C0B7EA5-5180-42E8-8FD4-657D1C5785A4}" srcOrd="1" destOrd="0" presId="urn:microsoft.com/office/officeart/2005/8/layout/target3"/>
    <dgm:cxn modelId="{17F3AD13-1169-4753-AFF0-A58238187B3F}" srcId="{E4C4A28D-91CB-470E-A295-4B4EAFFC56BB}" destId="{F658E99C-9784-4CD3-B11B-AECA526B1754}" srcOrd="2" destOrd="0" parTransId="{DF4AB548-CCFF-49FD-AD98-FCCB9409EFE9}" sibTransId="{10B2662F-9C45-4A29-9D70-E24F4A57C587}"/>
    <dgm:cxn modelId="{B6BF9C1F-E0FC-4EA0-987E-1EAD28FF6125}" type="presOf" srcId="{F658E99C-9784-4CD3-B11B-AECA526B1754}" destId="{54B81C9D-2FE1-4DFB-ADA3-6A9EE3E7484A}" srcOrd="1" destOrd="0" presId="urn:microsoft.com/office/officeart/2005/8/layout/target3"/>
    <dgm:cxn modelId="{F8EE2E38-2235-4293-8A0B-08EB4E92BF2A}" type="presOf" srcId="{7F580769-34A4-4B3F-B4A4-AB784C32354D}" destId="{1968F701-3B05-4661-9747-0A0B45EE6D4E}" srcOrd="1" destOrd="0" presId="urn:microsoft.com/office/officeart/2005/8/layout/target3"/>
    <dgm:cxn modelId="{31C5E45A-65B0-4C26-A9C5-7AF3DC71F6D1}" srcId="{E4C4A28D-91CB-470E-A295-4B4EAFFC56BB}" destId="{A5E5736A-96A9-46E9-9514-AC1119CD871E}" srcOrd="0" destOrd="0" parTransId="{A208EE0C-F6D8-4FE0-9A1B-D39CB6E43DA3}" sibTransId="{6C39AB79-EE17-4240-AB71-26A20BEEE904}"/>
    <dgm:cxn modelId="{04F52E83-5AAD-49F8-B49A-25C9D67F4853}" type="presOf" srcId="{7F580769-34A4-4B3F-B4A4-AB784C32354D}" destId="{1F550C22-0BF9-42E6-95AE-EBFB13C8A7EC}" srcOrd="0" destOrd="0" presId="urn:microsoft.com/office/officeart/2005/8/layout/target3"/>
    <dgm:cxn modelId="{427C5D9C-7691-46AB-A4F6-0A015EAB79B3}" type="presOf" srcId="{A5E5736A-96A9-46E9-9514-AC1119CD871E}" destId="{5C94AF7A-DFB2-4A9D-A388-17AB7A641F09}" srcOrd="0" destOrd="0" presId="urn:microsoft.com/office/officeart/2005/8/layout/target3"/>
    <dgm:cxn modelId="{2B1D51AA-49E7-405B-9474-B57FD1F30DB7}" type="presOf" srcId="{E4C4A28D-91CB-470E-A295-4B4EAFFC56BB}" destId="{C27331A2-B8CA-4CFD-9A1D-FE305CBE2C91}" srcOrd="0" destOrd="0" presId="urn:microsoft.com/office/officeart/2005/8/layout/target3"/>
    <dgm:cxn modelId="{86369EE1-8501-4CD5-8D8E-59EB74F08937}" type="presOf" srcId="{F658E99C-9784-4CD3-B11B-AECA526B1754}" destId="{B7028C45-C1F9-4371-A65E-E3C6CAE0D5F1}" srcOrd="0" destOrd="0" presId="urn:microsoft.com/office/officeart/2005/8/layout/target3"/>
    <dgm:cxn modelId="{12F6B0E9-83A4-4434-8A46-A5A805A73224}" srcId="{E4C4A28D-91CB-470E-A295-4B4EAFFC56BB}" destId="{7F580769-34A4-4B3F-B4A4-AB784C32354D}" srcOrd="1" destOrd="0" parTransId="{26B78D27-A4C8-48F6-A032-087FDAF6D5A0}" sibTransId="{AF13CC90-43B5-4B15-AD1B-F64CDCC9C31A}"/>
    <dgm:cxn modelId="{5A4FC1D4-C884-4DDC-A7D0-E1E2AF642371}" type="presParOf" srcId="{C27331A2-B8CA-4CFD-9A1D-FE305CBE2C91}" destId="{76FE39F3-C2E1-43C5-BE6A-1F50EF07C923}" srcOrd="0" destOrd="0" presId="urn:microsoft.com/office/officeart/2005/8/layout/target3"/>
    <dgm:cxn modelId="{98E97AC3-3ADB-4C1D-8DF4-38CB61C6F164}" type="presParOf" srcId="{C27331A2-B8CA-4CFD-9A1D-FE305CBE2C91}" destId="{4E7FCF5B-6688-41E6-AB86-CF28899E3432}" srcOrd="1" destOrd="0" presId="urn:microsoft.com/office/officeart/2005/8/layout/target3"/>
    <dgm:cxn modelId="{F532F133-F0AB-43E4-8430-298DCC9BCF7C}" type="presParOf" srcId="{C27331A2-B8CA-4CFD-9A1D-FE305CBE2C91}" destId="{5C94AF7A-DFB2-4A9D-A388-17AB7A641F09}" srcOrd="2" destOrd="0" presId="urn:microsoft.com/office/officeart/2005/8/layout/target3"/>
    <dgm:cxn modelId="{E14FFAB7-3D04-4B6F-9DB0-17E4183EB404}" type="presParOf" srcId="{C27331A2-B8CA-4CFD-9A1D-FE305CBE2C91}" destId="{AC9F734E-98E8-480C-8D68-95CAE6B1BFD4}" srcOrd="3" destOrd="0" presId="urn:microsoft.com/office/officeart/2005/8/layout/target3"/>
    <dgm:cxn modelId="{A29579C7-BD39-49D7-9289-F6F0ED4F796A}" type="presParOf" srcId="{C27331A2-B8CA-4CFD-9A1D-FE305CBE2C91}" destId="{1B571BF4-2150-4FA6-B4EC-9819593832E0}" srcOrd="4" destOrd="0" presId="urn:microsoft.com/office/officeart/2005/8/layout/target3"/>
    <dgm:cxn modelId="{0F2958F7-ABFB-4402-B5F7-1079433100CA}" type="presParOf" srcId="{C27331A2-B8CA-4CFD-9A1D-FE305CBE2C91}" destId="{1F550C22-0BF9-42E6-95AE-EBFB13C8A7EC}" srcOrd="5" destOrd="0" presId="urn:microsoft.com/office/officeart/2005/8/layout/target3"/>
    <dgm:cxn modelId="{68FB2A3B-F263-4E28-B66C-6CAF1EA9A9FF}" type="presParOf" srcId="{C27331A2-B8CA-4CFD-9A1D-FE305CBE2C91}" destId="{838A2B59-B9EC-4F46-A50A-904AFD3636DC}" srcOrd="6" destOrd="0" presId="urn:microsoft.com/office/officeart/2005/8/layout/target3"/>
    <dgm:cxn modelId="{7210BDB6-B270-44D4-9423-4489DBD4A8E0}" type="presParOf" srcId="{C27331A2-B8CA-4CFD-9A1D-FE305CBE2C91}" destId="{731E212B-E310-442D-A017-81E2BCCA9F68}" srcOrd="7" destOrd="0" presId="urn:microsoft.com/office/officeart/2005/8/layout/target3"/>
    <dgm:cxn modelId="{478C319D-1F03-45CF-BD61-3D6EA7A53E89}" type="presParOf" srcId="{C27331A2-B8CA-4CFD-9A1D-FE305CBE2C91}" destId="{B7028C45-C1F9-4371-A65E-E3C6CAE0D5F1}" srcOrd="8" destOrd="0" presId="urn:microsoft.com/office/officeart/2005/8/layout/target3"/>
    <dgm:cxn modelId="{4DE405E5-8423-44A4-A772-4C5551CCAC75}" type="presParOf" srcId="{C27331A2-B8CA-4CFD-9A1D-FE305CBE2C91}" destId="{2C0B7EA5-5180-42E8-8FD4-657D1C5785A4}" srcOrd="9" destOrd="0" presId="urn:microsoft.com/office/officeart/2005/8/layout/target3"/>
    <dgm:cxn modelId="{CD0F9387-3806-4E10-B040-F5640727BDC7}" type="presParOf" srcId="{C27331A2-B8CA-4CFD-9A1D-FE305CBE2C91}" destId="{1968F701-3B05-4661-9747-0A0B45EE6D4E}" srcOrd="10" destOrd="0" presId="urn:microsoft.com/office/officeart/2005/8/layout/target3"/>
    <dgm:cxn modelId="{B3A93F43-5D3B-4B98-B38C-18577EDAB85F}" type="presParOf" srcId="{C27331A2-B8CA-4CFD-9A1D-FE305CBE2C91}" destId="{54B81C9D-2FE1-4DFB-ADA3-6A9EE3E7484A}" srcOrd="11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4D7C977-F1D5-4C7C-8E8D-BB99C4B223D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0C8845EB-0BCA-4EFE-9BAC-AC17CCBE3F30}">
      <dgm:prSet/>
      <dgm:spPr/>
      <dgm:t>
        <a:bodyPr/>
        <a:lstStyle/>
        <a:p>
          <a:r>
            <a:rPr lang="en-US" b="1" i="0" baseline="0"/>
            <a:t>Revenue Snapshot:</a:t>
          </a:r>
          <a:r>
            <a:rPr lang="en-US" b="0" i="0" baseline="0"/>
            <a:t> Total Lifetime Revenue of </a:t>
          </a:r>
          <a:r>
            <a:rPr lang="en-US" b="1" i="0" baseline="0"/>
            <a:t>$818.1K</a:t>
          </a:r>
          <a:r>
            <a:rPr lang="en-US" b="0" i="0" baseline="0"/>
            <a:t> vs. Last 12 Months of </a:t>
          </a:r>
          <a:r>
            <a:rPr lang="en-US" b="1" i="0" baseline="0"/>
            <a:t>$516.5K</a:t>
          </a:r>
          <a:r>
            <a:rPr lang="en-US" b="0" i="0" baseline="0"/>
            <a:t>.</a:t>
          </a:r>
          <a:endParaRPr lang="en-IN"/>
        </a:p>
      </dgm:t>
    </dgm:pt>
    <dgm:pt modelId="{19945543-2FC9-4128-9B6D-76155D015228}" type="parTrans" cxnId="{29B03905-6B0F-44E2-AD15-B70FBC0CFDF5}">
      <dgm:prSet/>
      <dgm:spPr/>
      <dgm:t>
        <a:bodyPr/>
        <a:lstStyle/>
        <a:p>
          <a:endParaRPr lang="en-IN"/>
        </a:p>
      </dgm:t>
    </dgm:pt>
    <dgm:pt modelId="{62A56C6C-1ADA-4C87-8414-5E0868768589}" type="sibTrans" cxnId="{29B03905-6B0F-44E2-AD15-B70FBC0CFDF5}">
      <dgm:prSet/>
      <dgm:spPr/>
      <dgm:t>
        <a:bodyPr/>
        <a:lstStyle/>
        <a:p>
          <a:endParaRPr lang="en-IN"/>
        </a:p>
      </dgm:t>
    </dgm:pt>
    <dgm:pt modelId="{8C492ABD-1FD1-4BAC-BBDA-F12679B500CC}">
      <dgm:prSet/>
      <dgm:spPr/>
      <dgm:t>
        <a:bodyPr/>
        <a:lstStyle/>
        <a:p>
          <a:r>
            <a:rPr lang="en-US" b="1" i="0" baseline="0"/>
            <a:t>Trend Analysis:</a:t>
          </a:r>
          <a:r>
            <a:rPr lang="en-US" b="0" i="0" baseline="0"/>
            <a:t> Sales peaks identified in February; identified a trend where Online Sales are growing 12% faster than physical store sales.</a:t>
          </a:r>
          <a:endParaRPr lang="en-IN"/>
        </a:p>
      </dgm:t>
    </dgm:pt>
    <dgm:pt modelId="{86E13EFB-3E30-46C0-A824-BCF5C6BD1A83}" type="parTrans" cxnId="{232752A5-C861-4A30-8F5C-8D36495800AD}">
      <dgm:prSet/>
      <dgm:spPr/>
      <dgm:t>
        <a:bodyPr/>
        <a:lstStyle/>
        <a:p>
          <a:endParaRPr lang="en-IN"/>
        </a:p>
      </dgm:t>
    </dgm:pt>
    <dgm:pt modelId="{A9D9D7BA-C4A6-4C89-AF25-BB17CCFAD39E}" type="sibTrans" cxnId="{232752A5-C861-4A30-8F5C-8D36495800AD}">
      <dgm:prSet/>
      <dgm:spPr/>
      <dgm:t>
        <a:bodyPr/>
        <a:lstStyle/>
        <a:p>
          <a:endParaRPr lang="en-IN"/>
        </a:p>
      </dgm:t>
    </dgm:pt>
    <dgm:pt modelId="{6E3EAF7B-F07F-4D8B-992A-351A10EDBC17}">
      <dgm:prSet/>
      <dgm:spPr/>
      <dgm:t>
        <a:bodyPr/>
        <a:lstStyle/>
        <a:p>
          <a:r>
            <a:rPr lang="en-US" b="1" i="0" baseline="0"/>
            <a:t>The Anomaly:</a:t>
          </a:r>
          <a:r>
            <a:rPr lang="en-US" b="0" i="0" baseline="0"/>
            <a:t> Identified that while revenue is high, profit is being leaked through a 67% churn rate in new sign-ups.</a:t>
          </a:r>
          <a:endParaRPr lang="en-IN"/>
        </a:p>
      </dgm:t>
    </dgm:pt>
    <dgm:pt modelId="{62B28DAB-E99F-4E62-9702-0AF5DF101BA4}" type="parTrans" cxnId="{02EAFDE3-7426-4676-887B-3BA21D42F58A}">
      <dgm:prSet/>
      <dgm:spPr/>
      <dgm:t>
        <a:bodyPr/>
        <a:lstStyle/>
        <a:p>
          <a:endParaRPr lang="en-IN"/>
        </a:p>
      </dgm:t>
    </dgm:pt>
    <dgm:pt modelId="{060E49D3-8CEC-428F-81CB-E6E811C01D54}" type="sibTrans" cxnId="{02EAFDE3-7426-4676-887B-3BA21D42F58A}">
      <dgm:prSet/>
      <dgm:spPr/>
      <dgm:t>
        <a:bodyPr/>
        <a:lstStyle/>
        <a:p>
          <a:endParaRPr lang="en-IN"/>
        </a:p>
      </dgm:t>
    </dgm:pt>
    <dgm:pt modelId="{C2EE0C9B-6E05-48B3-8EC5-C51256EFBE2C}" type="pres">
      <dgm:prSet presAssocID="{F4D7C977-F1D5-4C7C-8E8D-BB99C4B223DD}" presName="linear" presStyleCnt="0">
        <dgm:presLayoutVars>
          <dgm:animLvl val="lvl"/>
          <dgm:resizeHandles val="exact"/>
        </dgm:presLayoutVars>
      </dgm:prSet>
      <dgm:spPr/>
    </dgm:pt>
    <dgm:pt modelId="{691E6491-4E6D-48DF-BA7B-41EC650C6103}" type="pres">
      <dgm:prSet presAssocID="{0C8845EB-0BCA-4EFE-9BAC-AC17CCBE3F3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D1D45B9-310E-44C5-9B72-A3EE04C916A3}" type="pres">
      <dgm:prSet presAssocID="{62A56C6C-1ADA-4C87-8414-5E0868768589}" presName="spacer" presStyleCnt="0"/>
      <dgm:spPr/>
    </dgm:pt>
    <dgm:pt modelId="{35D7FFE7-C749-46C9-83A4-69CC1CFB4D71}" type="pres">
      <dgm:prSet presAssocID="{8C492ABD-1FD1-4BAC-BBDA-F12679B500C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51AAD61-8A6C-4553-89BE-165E4784736A}" type="pres">
      <dgm:prSet presAssocID="{A9D9D7BA-C4A6-4C89-AF25-BB17CCFAD39E}" presName="spacer" presStyleCnt="0"/>
      <dgm:spPr/>
    </dgm:pt>
    <dgm:pt modelId="{04A8A5C6-B2E9-4870-9FD9-17B5E1F6DEF2}" type="pres">
      <dgm:prSet presAssocID="{6E3EAF7B-F07F-4D8B-992A-351A10EDBC1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9B03905-6B0F-44E2-AD15-B70FBC0CFDF5}" srcId="{F4D7C977-F1D5-4C7C-8E8D-BB99C4B223DD}" destId="{0C8845EB-0BCA-4EFE-9BAC-AC17CCBE3F30}" srcOrd="0" destOrd="0" parTransId="{19945543-2FC9-4128-9B6D-76155D015228}" sibTransId="{62A56C6C-1ADA-4C87-8414-5E0868768589}"/>
    <dgm:cxn modelId="{3F8FF705-C74B-463A-82C1-95E852306353}" type="presOf" srcId="{F4D7C977-F1D5-4C7C-8E8D-BB99C4B223DD}" destId="{C2EE0C9B-6E05-48B3-8EC5-C51256EFBE2C}" srcOrd="0" destOrd="0" presId="urn:microsoft.com/office/officeart/2005/8/layout/vList2"/>
    <dgm:cxn modelId="{DFDF0A2D-D772-44DC-8362-81AF88A13719}" type="presOf" srcId="{0C8845EB-0BCA-4EFE-9BAC-AC17CCBE3F30}" destId="{691E6491-4E6D-48DF-BA7B-41EC650C6103}" srcOrd="0" destOrd="0" presId="urn:microsoft.com/office/officeart/2005/8/layout/vList2"/>
    <dgm:cxn modelId="{FC73516F-50DB-44FE-882D-4449DC3EC4CC}" type="presOf" srcId="{6E3EAF7B-F07F-4D8B-992A-351A10EDBC17}" destId="{04A8A5C6-B2E9-4870-9FD9-17B5E1F6DEF2}" srcOrd="0" destOrd="0" presId="urn:microsoft.com/office/officeart/2005/8/layout/vList2"/>
    <dgm:cxn modelId="{DA9F5D7B-F5E8-4BBC-A0B3-00421A76B5BC}" type="presOf" srcId="{8C492ABD-1FD1-4BAC-BBDA-F12679B500CC}" destId="{35D7FFE7-C749-46C9-83A4-69CC1CFB4D71}" srcOrd="0" destOrd="0" presId="urn:microsoft.com/office/officeart/2005/8/layout/vList2"/>
    <dgm:cxn modelId="{232752A5-C861-4A30-8F5C-8D36495800AD}" srcId="{F4D7C977-F1D5-4C7C-8E8D-BB99C4B223DD}" destId="{8C492ABD-1FD1-4BAC-BBDA-F12679B500CC}" srcOrd="1" destOrd="0" parTransId="{86E13EFB-3E30-46C0-A824-BCF5C6BD1A83}" sibTransId="{A9D9D7BA-C4A6-4C89-AF25-BB17CCFAD39E}"/>
    <dgm:cxn modelId="{02EAFDE3-7426-4676-887B-3BA21D42F58A}" srcId="{F4D7C977-F1D5-4C7C-8E8D-BB99C4B223DD}" destId="{6E3EAF7B-F07F-4D8B-992A-351A10EDBC17}" srcOrd="2" destOrd="0" parTransId="{62B28DAB-E99F-4E62-9702-0AF5DF101BA4}" sibTransId="{060E49D3-8CEC-428F-81CB-E6E811C01D54}"/>
    <dgm:cxn modelId="{632C4A5D-9A68-4E34-A578-6A9EFFA021B4}" type="presParOf" srcId="{C2EE0C9B-6E05-48B3-8EC5-C51256EFBE2C}" destId="{691E6491-4E6D-48DF-BA7B-41EC650C6103}" srcOrd="0" destOrd="0" presId="urn:microsoft.com/office/officeart/2005/8/layout/vList2"/>
    <dgm:cxn modelId="{097C157F-5403-4F82-960C-93A602F3693B}" type="presParOf" srcId="{C2EE0C9B-6E05-48B3-8EC5-C51256EFBE2C}" destId="{1D1D45B9-310E-44C5-9B72-A3EE04C916A3}" srcOrd="1" destOrd="0" presId="urn:microsoft.com/office/officeart/2005/8/layout/vList2"/>
    <dgm:cxn modelId="{75DB5B57-30C8-4CEE-BEFF-B24088D64150}" type="presParOf" srcId="{C2EE0C9B-6E05-48B3-8EC5-C51256EFBE2C}" destId="{35D7FFE7-C749-46C9-83A4-69CC1CFB4D71}" srcOrd="2" destOrd="0" presId="urn:microsoft.com/office/officeart/2005/8/layout/vList2"/>
    <dgm:cxn modelId="{D251E672-16A3-4FC2-9221-5F2A9FEFB688}" type="presParOf" srcId="{C2EE0C9B-6E05-48B3-8EC5-C51256EFBE2C}" destId="{451AAD61-8A6C-4553-89BE-165E4784736A}" srcOrd="3" destOrd="0" presId="urn:microsoft.com/office/officeart/2005/8/layout/vList2"/>
    <dgm:cxn modelId="{20A64990-D0A8-4C2C-9056-35A202572A29}" type="presParOf" srcId="{C2EE0C9B-6E05-48B3-8EC5-C51256EFBE2C}" destId="{04A8A5C6-B2E9-4870-9FD9-17B5E1F6DEF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F98EB0E-6D01-4110-968C-812A4E6FED6A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A2D3DF1-3DEB-4DFF-9E97-A952EF7D417A}">
      <dgm:prSet/>
      <dgm:spPr>
        <a:ln>
          <a:solidFill>
            <a:schemeClr val="accent1">
              <a:lumMod val="40000"/>
              <a:lumOff val="60000"/>
            </a:schemeClr>
          </a:solidFill>
        </a:ln>
      </dgm:spPr>
      <dgm:t>
        <a:bodyPr/>
        <a:lstStyle/>
        <a:p>
          <a:r>
            <a:rPr lang="en-US" b="1" i="0" baseline="0" dirty="0"/>
            <a:t>Churn Reality:</a:t>
          </a:r>
          <a:r>
            <a:rPr lang="en-US" b="0" i="0" baseline="0" dirty="0"/>
            <a:t> The 67.4% churn rate is high, but the data reveals that many "churned" users are new sign-ups who never reached their first purchase.</a:t>
          </a:r>
          <a:endParaRPr lang="en-IN" dirty="0"/>
        </a:p>
      </dgm:t>
    </dgm:pt>
    <dgm:pt modelId="{B3028D85-CEC1-4119-A2D6-651655D2488A}" type="parTrans" cxnId="{A611386D-36A3-4336-AF94-D5DBFC23113E}">
      <dgm:prSet/>
      <dgm:spPr/>
      <dgm:t>
        <a:bodyPr/>
        <a:lstStyle/>
        <a:p>
          <a:endParaRPr lang="en-IN"/>
        </a:p>
      </dgm:t>
    </dgm:pt>
    <dgm:pt modelId="{430B9157-BAC2-45C9-BC13-20464680715C}" type="sibTrans" cxnId="{A611386D-36A3-4336-AF94-D5DBFC23113E}">
      <dgm:prSet/>
      <dgm:spPr/>
      <dgm:t>
        <a:bodyPr/>
        <a:lstStyle/>
        <a:p>
          <a:endParaRPr lang="en-IN"/>
        </a:p>
      </dgm:t>
    </dgm:pt>
    <dgm:pt modelId="{634B716F-2A4E-4462-BDEF-DD789AB39A6F}">
      <dgm:prSet/>
      <dgm:spPr>
        <a:ln>
          <a:solidFill>
            <a:schemeClr val="accent1">
              <a:lumMod val="40000"/>
              <a:lumOff val="60000"/>
            </a:schemeClr>
          </a:solidFill>
        </a:ln>
      </dgm:spPr>
      <dgm:t>
        <a:bodyPr/>
        <a:lstStyle/>
        <a:p>
          <a:r>
            <a:rPr lang="en-US" b="1" i="0" baseline="0" dirty="0"/>
            <a:t>Demographic Split:</a:t>
          </a:r>
          <a:r>
            <a:rPr lang="en-US" b="0" i="0" baseline="0" dirty="0"/>
            <a:t> Females represent the largest customer segment, while the </a:t>
          </a:r>
          <a:r>
            <a:rPr lang="en-US" b="1" i="0" baseline="0" dirty="0"/>
            <a:t>31-45 age group</a:t>
          </a:r>
          <a:r>
            <a:rPr lang="en-US" b="0" i="0" baseline="0" dirty="0"/>
            <a:t> (identified in SQL/Python) provides the highest average transaction value.</a:t>
          </a:r>
          <a:endParaRPr lang="en-IN" dirty="0"/>
        </a:p>
      </dgm:t>
    </dgm:pt>
    <dgm:pt modelId="{EB45F50C-21A0-4C3C-A7BF-DDEF7EA8AC58}" type="parTrans" cxnId="{4F3453FC-E9E3-47A1-975F-F3D7DB92F819}">
      <dgm:prSet/>
      <dgm:spPr/>
      <dgm:t>
        <a:bodyPr/>
        <a:lstStyle/>
        <a:p>
          <a:endParaRPr lang="en-IN"/>
        </a:p>
      </dgm:t>
    </dgm:pt>
    <dgm:pt modelId="{F2B977E5-884F-48FB-BD88-F4D341A6E3FE}" type="sibTrans" cxnId="{4F3453FC-E9E3-47A1-975F-F3D7DB92F819}">
      <dgm:prSet/>
      <dgm:spPr/>
      <dgm:t>
        <a:bodyPr/>
        <a:lstStyle/>
        <a:p>
          <a:endParaRPr lang="en-IN"/>
        </a:p>
      </dgm:t>
    </dgm:pt>
    <dgm:pt modelId="{5B9DEBDC-070B-44CE-A03A-969E5445A085}">
      <dgm:prSet/>
      <dgm:spPr>
        <a:ln>
          <a:solidFill>
            <a:schemeClr val="accent1">
              <a:lumMod val="60000"/>
              <a:lumOff val="40000"/>
            </a:schemeClr>
          </a:solidFill>
        </a:ln>
      </dgm:spPr>
      <dgm:t>
        <a:bodyPr/>
        <a:lstStyle/>
        <a:p>
          <a:r>
            <a:rPr lang="en-US" b="1" i="0" baseline="0"/>
            <a:t>Loyalty:</a:t>
          </a:r>
          <a:r>
            <a:rPr lang="en-US" b="0" i="0" baseline="0"/>
            <a:t> A small "Gold" tier of loyalists contributes a disproportionate amount of total profit.</a:t>
          </a:r>
          <a:endParaRPr lang="en-IN"/>
        </a:p>
      </dgm:t>
    </dgm:pt>
    <dgm:pt modelId="{EEB8EB20-228D-4F42-9BCD-AD06344779D5}" type="parTrans" cxnId="{ACAC3080-8BA5-4131-B335-99C96432C1B1}">
      <dgm:prSet/>
      <dgm:spPr/>
      <dgm:t>
        <a:bodyPr/>
        <a:lstStyle/>
        <a:p>
          <a:endParaRPr lang="en-IN"/>
        </a:p>
      </dgm:t>
    </dgm:pt>
    <dgm:pt modelId="{B07F9CB2-ABB5-46C5-87CA-A61FE4880A91}" type="sibTrans" cxnId="{ACAC3080-8BA5-4131-B335-99C96432C1B1}">
      <dgm:prSet/>
      <dgm:spPr/>
      <dgm:t>
        <a:bodyPr/>
        <a:lstStyle/>
        <a:p>
          <a:endParaRPr lang="en-IN"/>
        </a:p>
      </dgm:t>
    </dgm:pt>
    <dgm:pt modelId="{75788E58-7CF9-4075-BE1B-B0B7FCF9D77C}" type="pres">
      <dgm:prSet presAssocID="{FF98EB0E-6D01-4110-968C-812A4E6FED6A}" presName="Name0" presStyleCnt="0">
        <dgm:presLayoutVars>
          <dgm:dir/>
          <dgm:animLvl val="lvl"/>
          <dgm:resizeHandles val="exact"/>
        </dgm:presLayoutVars>
      </dgm:prSet>
      <dgm:spPr/>
    </dgm:pt>
    <dgm:pt modelId="{912D326D-D0C0-4DC9-9A94-F4A4B7288B88}" type="pres">
      <dgm:prSet presAssocID="{0A2D3DF1-3DEB-4DFF-9E97-A952EF7D417A}" presName="linNode" presStyleCnt="0"/>
      <dgm:spPr/>
    </dgm:pt>
    <dgm:pt modelId="{F90F4815-2667-43EC-B08C-832DCDA356AF}" type="pres">
      <dgm:prSet presAssocID="{0A2D3DF1-3DEB-4DFF-9E97-A952EF7D417A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20AE9CDA-D90E-47DC-B580-6F2EEAF93B23}" type="pres">
      <dgm:prSet presAssocID="{430B9157-BAC2-45C9-BC13-20464680715C}" presName="sp" presStyleCnt="0"/>
      <dgm:spPr/>
    </dgm:pt>
    <dgm:pt modelId="{4644256B-2B0D-4978-AA87-66957A675DD6}" type="pres">
      <dgm:prSet presAssocID="{634B716F-2A4E-4462-BDEF-DD789AB39A6F}" presName="linNode" presStyleCnt="0"/>
      <dgm:spPr/>
    </dgm:pt>
    <dgm:pt modelId="{5DD1E430-E3D3-4D06-AA19-75A6005EEC3F}" type="pres">
      <dgm:prSet presAssocID="{634B716F-2A4E-4462-BDEF-DD789AB39A6F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584B5783-4F81-4961-834A-CAC04F305EEF}" type="pres">
      <dgm:prSet presAssocID="{F2B977E5-884F-48FB-BD88-F4D341A6E3FE}" presName="sp" presStyleCnt="0"/>
      <dgm:spPr/>
    </dgm:pt>
    <dgm:pt modelId="{34FC585F-AEF2-4A39-9CF6-0299CDE9FEF3}" type="pres">
      <dgm:prSet presAssocID="{5B9DEBDC-070B-44CE-A03A-969E5445A085}" presName="linNode" presStyleCnt="0"/>
      <dgm:spPr/>
    </dgm:pt>
    <dgm:pt modelId="{8A4C6B79-0A33-4E25-94AF-3ADD73D7050C}" type="pres">
      <dgm:prSet presAssocID="{5B9DEBDC-070B-44CE-A03A-969E5445A085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A5E6AE07-0BDD-4CFC-8B65-E5E9E06A0CA5}" type="presOf" srcId="{0A2D3DF1-3DEB-4DFF-9E97-A952EF7D417A}" destId="{F90F4815-2667-43EC-B08C-832DCDA356AF}" srcOrd="0" destOrd="0" presId="urn:microsoft.com/office/officeart/2005/8/layout/vList5"/>
    <dgm:cxn modelId="{ADE07E13-0F02-4A09-B323-072900910F36}" type="presOf" srcId="{634B716F-2A4E-4462-BDEF-DD789AB39A6F}" destId="{5DD1E430-E3D3-4D06-AA19-75A6005EEC3F}" srcOrd="0" destOrd="0" presId="urn:microsoft.com/office/officeart/2005/8/layout/vList5"/>
    <dgm:cxn modelId="{36889E47-141C-4F77-8D19-56192A38F84A}" type="presOf" srcId="{FF98EB0E-6D01-4110-968C-812A4E6FED6A}" destId="{75788E58-7CF9-4075-BE1B-B0B7FCF9D77C}" srcOrd="0" destOrd="0" presId="urn:microsoft.com/office/officeart/2005/8/layout/vList5"/>
    <dgm:cxn modelId="{A611386D-36A3-4336-AF94-D5DBFC23113E}" srcId="{FF98EB0E-6D01-4110-968C-812A4E6FED6A}" destId="{0A2D3DF1-3DEB-4DFF-9E97-A952EF7D417A}" srcOrd="0" destOrd="0" parTransId="{B3028D85-CEC1-4119-A2D6-651655D2488A}" sibTransId="{430B9157-BAC2-45C9-BC13-20464680715C}"/>
    <dgm:cxn modelId="{ACAC3080-8BA5-4131-B335-99C96432C1B1}" srcId="{FF98EB0E-6D01-4110-968C-812A4E6FED6A}" destId="{5B9DEBDC-070B-44CE-A03A-969E5445A085}" srcOrd="2" destOrd="0" parTransId="{EEB8EB20-228D-4F42-9BCD-AD06344779D5}" sibTransId="{B07F9CB2-ABB5-46C5-87CA-A61FE4880A91}"/>
    <dgm:cxn modelId="{A4C949AB-18FA-4B24-81C4-03C38DF95712}" type="presOf" srcId="{5B9DEBDC-070B-44CE-A03A-969E5445A085}" destId="{8A4C6B79-0A33-4E25-94AF-3ADD73D7050C}" srcOrd="0" destOrd="0" presId="urn:microsoft.com/office/officeart/2005/8/layout/vList5"/>
    <dgm:cxn modelId="{4F3453FC-E9E3-47A1-975F-F3D7DB92F819}" srcId="{FF98EB0E-6D01-4110-968C-812A4E6FED6A}" destId="{634B716F-2A4E-4462-BDEF-DD789AB39A6F}" srcOrd="1" destOrd="0" parTransId="{EB45F50C-21A0-4C3C-A7BF-DDEF7EA8AC58}" sibTransId="{F2B977E5-884F-48FB-BD88-F4D341A6E3FE}"/>
    <dgm:cxn modelId="{4EBD6FE3-0713-4254-8ABF-1CEA256AFFCD}" type="presParOf" srcId="{75788E58-7CF9-4075-BE1B-B0B7FCF9D77C}" destId="{912D326D-D0C0-4DC9-9A94-F4A4B7288B88}" srcOrd="0" destOrd="0" presId="urn:microsoft.com/office/officeart/2005/8/layout/vList5"/>
    <dgm:cxn modelId="{674EFB95-37B9-46E6-8D43-38D6F434DBE5}" type="presParOf" srcId="{912D326D-D0C0-4DC9-9A94-F4A4B7288B88}" destId="{F90F4815-2667-43EC-B08C-832DCDA356AF}" srcOrd="0" destOrd="0" presId="urn:microsoft.com/office/officeart/2005/8/layout/vList5"/>
    <dgm:cxn modelId="{AF91F9B7-D9C0-4169-950F-C93448611935}" type="presParOf" srcId="{75788E58-7CF9-4075-BE1B-B0B7FCF9D77C}" destId="{20AE9CDA-D90E-47DC-B580-6F2EEAF93B23}" srcOrd="1" destOrd="0" presId="urn:microsoft.com/office/officeart/2005/8/layout/vList5"/>
    <dgm:cxn modelId="{07A270F8-4CBD-4AC8-8D85-0F2D31D456B3}" type="presParOf" srcId="{75788E58-7CF9-4075-BE1B-B0B7FCF9D77C}" destId="{4644256B-2B0D-4978-AA87-66957A675DD6}" srcOrd="2" destOrd="0" presId="urn:microsoft.com/office/officeart/2005/8/layout/vList5"/>
    <dgm:cxn modelId="{BE7C22C6-BFAD-4BBD-8A62-D049FE985C15}" type="presParOf" srcId="{4644256B-2B0D-4978-AA87-66957A675DD6}" destId="{5DD1E430-E3D3-4D06-AA19-75A6005EEC3F}" srcOrd="0" destOrd="0" presId="urn:microsoft.com/office/officeart/2005/8/layout/vList5"/>
    <dgm:cxn modelId="{33DFBDE3-7CBA-4253-883E-B2B682BCC1AA}" type="presParOf" srcId="{75788E58-7CF9-4075-BE1B-B0B7FCF9D77C}" destId="{584B5783-4F81-4961-834A-CAC04F305EEF}" srcOrd="3" destOrd="0" presId="urn:microsoft.com/office/officeart/2005/8/layout/vList5"/>
    <dgm:cxn modelId="{67895361-D0E4-4D2C-BE17-4CCBEB1D39F2}" type="presParOf" srcId="{75788E58-7CF9-4075-BE1B-B0B7FCF9D77C}" destId="{34FC585F-AEF2-4A39-9CF6-0299CDE9FEF3}" srcOrd="4" destOrd="0" presId="urn:microsoft.com/office/officeart/2005/8/layout/vList5"/>
    <dgm:cxn modelId="{BDB72440-2B70-4DAA-AEFE-30C4ED535EA2}" type="presParOf" srcId="{34FC585F-AEF2-4A39-9CF6-0299CDE9FEF3}" destId="{8A4C6B79-0A33-4E25-94AF-3ADD73D7050C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56F77AA-724D-4A26-83BD-4D03B6F21180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B77E7516-857B-4D77-8E89-01583C42C0E4}">
      <dgm:prSet/>
      <dgm:spPr/>
      <dgm:t>
        <a:bodyPr/>
        <a:lstStyle/>
        <a:p>
          <a:r>
            <a:rPr lang="en-US" b="1" i="0" baseline="0"/>
            <a:t>Churn Reality:</a:t>
          </a:r>
          <a:r>
            <a:rPr lang="en-US" b="0" i="0" baseline="0"/>
            <a:t> The 67.4% churn rate is high, but the data reveals that many "churned" users are new sign-ups who never reached their first purchase.</a:t>
          </a:r>
          <a:endParaRPr lang="en-IN"/>
        </a:p>
      </dgm:t>
    </dgm:pt>
    <dgm:pt modelId="{88101C6A-465C-4036-8D17-A592F3FE87DD}" type="parTrans" cxnId="{16FA57B5-F567-494D-B1FD-A8E1D6FACA95}">
      <dgm:prSet/>
      <dgm:spPr/>
      <dgm:t>
        <a:bodyPr/>
        <a:lstStyle/>
        <a:p>
          <a:endParaRPr lang="en-IN"/>
        </a:p>
      </dgm:t>
    </dgm:pt>
    <dgm:pt modelId="{465532DE-176E-4DF2-8912-A00CB8FAF143}" type="sibTrans" cxnId="{16FA57B5-F567-494D-B1FD-A8E1D6FACA95}">
      <dgm:prSet/>
      <dgm:spPr/>
      <dgm:t>
        <a:bodyPr/>
        <a:lstStyle/>
        <a:p>
          <a:endParaRPr lang="en-IN"/>
        </a:p>
      </dgm:t>
    </dgm:pt>
    <dgm:pt modelId="{5B325608-C680-405D-B88F-0F7ABF6C6E16}">
      <dgm:prSet/>
      <dgm:spPr/>
      <dgm:t>
        <a:bodyPr/>
        <a:lstStyle/>
        <a:p>
          <a:r>
            <a:rPr lang="en-US" b="1" i="0" baseline="0"/>
            <a:t>Demographic Split:</a:t>
          </a:r>
          <a:r>
            <a:rPr lang="en-US" b="0" i="0" baseline="0"/>
            <a:t> Females represent the largest customer segment, while the </a:t>
          </a:r>
          <a:r>
            <a:rPr lang="en-US" b="1" i="0" baseline="0"/>
            <a:t>31-45 age group</a:t>
          </a:r>
          <a:r>
            <a:rPr lang="en-US" b="0" i="0" baseline="0"/>
            <a:t> (identified in SQL/Python) provides the highest average transaction value.</a:t>
          </a:r>
          <a:endParaRPr lang="en-IN"/>
        </a:p>
      </dgm:t>
    </dgm:pt>
    <dgm:pt modelId="{7948C4BA-5AB2-4E1D-9E4B-6EC7F13FEAEE}" type="parTrans" cxnId="{2BBE135A-B2EB-43C3-B5FA-0FD37BAC96D4}">
      <dgm:prSet/>
      <dgm:spPr/>
      <dgm:t>
        <a:bodyPr/>
        <a:lstStyle/>
        <a:p>
          <a:endParaRPr lang="en-IN"/>
        </a:p>
      </dgm:t>
    </dgm:pt>
    <dgm:pt modelId="{7F02FF7C-69AC-48EF-8339-D3FB38208FD3}" type="sibTrans" cxnId="{2BBE135A-B2EB-43C3-B5FA-0FD37BAC96D4}">
      <dgm:prSet/>
      <dgm:spPr/>
      <dgm:t>
        <a:bodyPr/>
        <a:lstStyle/>
        <a:p>
          <a:endParaRPr lang="en-IN"/>
        </a:p>
      </dgm:t>
    </dgm:pt>
    <dgm:pt modelId="{7C9CBE91-07AD-4F1F-A04E-450081DF382B}">
      <dgm:prSet/>
      <dgm:spPr/>
      <dgm:t>
        <a:bodyPr/>
        <a:lstStyle/>
        <a:p>
          <a:r>
            <a:rPr lang="en-US" b="1" i="0" baseline="0"/>
            <a:t>Loyalty:</a:t>
          </a:r>
          <a:r>
            <a:rPr lang="en-US" b="0" i="0" baseline="0"/>
            <a:t> A small "Gold" tier of loyalists contributes a disproportionate amount of total profit.</a:t>
          </a:r>
          <a:endParaRPr lang="en-IN"/>
        </a:p>
      </dgm:t>
    </dgm:pt>
    <dgm:pt modelId="{9F1D03E2-98E2-498F-8442-F694A20C65DB}" type="parTrans" cxnId="{65E08DA1-94FC-4C94-A3CA-C1ADA05342D6}">
      <dgm:prSet/>
      <dgm:spPr/>
      <dgm:t>
        <a:bodyPr/>
        <a:lstStyle/>
        <a:p>
          <a:endParaRPr lang="en-IN"/>
        </a:p>
      </dgm:t>
    </dgm:pt>
    <dgm:pt modelId="{DF441B5C-67E3-430D-9EBD-D898579B2FD2}" type="sibTrans" cxnId="{65E08DA1-94FC-4C94-A3CA-C1ADA05342D6}">
      <dgm:prSet/>
      <dgm:spPr/>
      <dgm:t>
        <a:bodyPr/>
        <a:lstStyle/>
        <a:p>
          <a:endParaRPr lang="en-IN"/>
        </a:p>
      </dgm:t>
    </dgm:pt>
    <dgm:pt modelId="{FE6CF09B-99E3-4164-8A4A-41EB4E34A1E6}" type="pres">
      <dgm:prSet presAssocID="{756F77AA-724D-4A26-83BD-4D03B6F21180}" presName="Name0" presStyleCnt="0">
        <dgm:presLayoutVars>
          <dgm:dir/>
          <dgm:animLvl val="lvl"/>
          <dgm:resizeHandles val="exact"/>
        </dgm:presLayoutVars>
      </dgm:prSet>
      <dgm:spPr/>
    </dgm:pt>
    <dgm:pt modelId="{3EEEBC75-5D53-4645-B290-E3B147226EEF}" type="pres">
      <dgm:prSet presAssocID="{B77E7516-857B-4D77-8E89-01583C42C0E4}" presName="linNode" presStyleCnt="0"/>
      <dgm:spPr/>
    </dgm:pt>
    <dgm:pt modelId="{7AB113F3-8F28-4394-8F23-F3184152766A}" type="pres">
      <dgm:prSet presAssocID="{B77E7516-857B-4D77-8E89-01583C42C0E4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750DB1B4-EAC9-42FA-9D07-6A85353AC67E}" type="pres">
      <dgm:prSet presAssocID="{465532DE-176E-4DF2-8912-A00CB8FAF143}" presName="sp" presStyleCnt="0"/>
      <dgm:spPr/>
    </dgm:pt>
    <dgm:pt modelId="{BBA4178F-6C06-42D1-9F58-291481D5BE8E}" type="pres">
      <dgm:prSet presAssocID="{5B325608-C680-405D-B88F-0F7ABF6C6E16}" presName="linNode" presStyleCnt="0"/>
      <dgm:spPr/>
    </dgm:pt>
    <dgm:pt modelId="{64C6B6A7-2D5A-454D-9236-FDF22990B951}" type="pres">
      <dgm:prSet presAssocID="{5B325608-C680-405D-B88F-0F7ABF6C6E16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EE6CE4DD-3C6B-4F7B-B0E0-3932B980F1C7}" type="pres">
      <dgm:prSet presAssocID="{7F02FF7C-69AC-48EF-8339-D3FB38208FD3}" presName="sp" presStyleCnt="0"/>
      <dgm:spPr/>
    </dgm:pt>
    <dgm:pt modelId="{904CD62B-BCEC-4351-800D-01EEF0EBFF2D}" type="pres">
      <dgm:prSet presAssocID="{7C9CBE91-07AD-4F1F-A04E-450081DF382B}" presName="linNode" presStyleCnt="0"/>
      <dgm:spPr/>
    </dgm:pt>
    <dgm:pt modelId="{E4809181-77EC-465D-A4B0-920EC1D2955C}" type="pres">
      <dgm:prSet presAssocID="{7C9CBE91-07AD-4F1F-A04E-450081DF382B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D2B96332-3DED-400F-A3A2-6B5941CD2A0E}" type="presOf" srcId="{7C9CBE91-07AD-4F1F-A04E-450081DF382B}" destId="{E4809181-77EC-465D-A4B0-920EC1D2955C}" srcOrd="0" destOrd="0" presId="urn:microsoft.com/office/officeart/2005/8/layout/vList5"/>
    <dgm:cxn modelId="{FA494F48-CF28-48C2-B163-7C857FDFEABC}" type="presOf" srcId="{5B325608-C680-405D-B88F-0F7ABF6C6E16}" destId="{64C6B6A7-2D5A-454D-9236-FDF22990B951}" srcOrd="0" destOrd="0" presId="urn:microsoft.com/office/officeart/2005/8/layout/vList5"/>
    <dgm:cxn modelId="{2BBE135A-B2EB-43C3-B5FA-0FD37BAC96D4}" srcId="{756F77AA-724D-4A26-83BD-4D03B6F21180}" destId="{5B325608-C680-405D-B88F-0F7ABF6C6E16}" srcOrd="1" destOrd="0" parTransId="{7948C4BA-5AB2-4E1D-9E4B-6EC7F13FEAEE}" sibTransId="{7F02FF7C-69AC-48EF-8339-D3FB38208FD3}"/>
    <dgm:cxn modelId="{65E08DA1-94FC-4C94-A3CA-C1ADA05342D6}" srcId="{756F77AA-724D-4A26-83BD-4D03B6F21180}" destId="{7C9CBE91-07AD-4F1F-A04E-450081DF382B}" srcOrd="2" destOrd="0" parTransId="{9F1D03E2-98E2-498F-8442-F694A20C65DB}" sibTransId="{DF441B5C-67E3-430D-9EBD-D898579B2FD2}"/>
    <dgm:cxn modelId="{CF2624A4-3F25-4C15-9886-BA1D1BE81518}" type="presOf" srcId="{756F77AA-724D-4A26-83BD-4D03B6F21180}" destId="{FE6CF09B-99E3-4164-8A4A-41EB4E34A1E6}" srcOrd="0" destOrd="0" presId="urn:microsoft.com/office/officeart/2005/8/layout/vList5"/>
    <dgm:cxn modelId="{16FA57B5-F567-494D-B1FD-A8E1D6FACA95}" srcId="{756F77AA-724D-4A26-83BD-4D03B6F21180}" destId="{B77E7516-857B-4D77-8E89-01583C42C0E4}" srcOrd="0" destOrd="0" parTransId="{88101C6A-465C-4036-8D17-A592F3FE87DD}" sibTransId="{465532DE-176E-4DF2-8912-A00CB8FAF143}"/>
    <dgm:cxn modelId="{39AAFEDE-6A6A-4681-BD9A-FFD4FD78D737}" type="presOf" srcId="{B77E7516-857B-4D77-8E89-01583C42C0E4}" destId="{7AB113F3-8F28-4394-8F23-F3184152766A}" srcOrd="0" destOrd="0" presId="urn:microsoft.com/office/officeart/2005/8/layout/vList5"/>
    <dgm:cxn modelId="{48CA3A43-6A32-41DA-ABC4-7809B4B723E8}" type="presParOf" srcId="{FE6CF09B-99E3-4164-8A4A-41EB4E34A1E6}" destId="{3EEEBC75-5D53-4645-B290-E3B147226EEF}" srcOrd="0" destOrd="0" presId="urn:microsoft.com/office/officeart/2005/8/layout/vList5"/>
    <dgm:cxn modelId="{5845DB42-0D15-4D35-AA4A-968F7E2B3C6D}" type="presParOf" srcId="{3EEEBC75-5D53-4645-B290-E3B147226EEF}" destId="{7AB113F3-8F28-4394-8F23-F3184152766A}" srcOrd="0" destOrd="0" presId="urn:microsoft.com/office/officeart/2005/8/layout/vList5"/>
    <dgm:cxn modelId="{D470E997-4C82-480F-89D0-BADF0CF5557A}" type="presParOf" srcId="{FE6CF09B-99E3-4164-8A4A-41EB4E34A1E6}" destId="{750DB1B4-EAC9-42FA-9D07-6A85353AC67E}" srcOrd="1" destOrd="0" presId="urn:microsoft.com/office/officeart/2005/8/layout/vList5"/>
    <dgm:cxn modelId="{6FA23B9C-0056-4B44-906E-315858C5AB0A}" type="presParOf" srcId="{FE6CF09B-99E3-4164-8A4A-41EB4E34A1E6}" destId="{BBA4178F-6C06-42D1-9F58-291481D5BE8E}" srcOrd="2" destOrd="0" presId="urn:microsoft.com/office/officeart/2005/8/layout/vList5"/>
    <dgm:cxn modelId="{FD66260F-CF2D-4533-9244-885E3695E7FE}" type="presParOf" srcId="{BBA4178F-6C06-42D1-9F58-291481D5BE8E}" destId="{64C6B6A7-2D5A-454D-9236-FDF22990B951}" srcOrd="0" destOrd="0" presId="urn:microsoft.com/office/officeart/2005/8/layout/vList5"/>
    <dgm:cxn modelId="{66B1C32E-3B97-40E3-BE5B-65D92262B3FF}" type="presParOf" srcId="{FE6CF09B-99E3-4164-8A4A-41EB4E34A1E6}" destId="{EE6CE4DD-3C6B-4F7B-B0E0-3932B980F1C7}" srcOrd="3" destOrd="0" presId="urn:microsoft.com/office/officeart/2005/8/layout/vList5"/>
    <dgm:cxn modelId="{1B6F2CC2-ED96-4E56-B595-82ECC7C0F182}" type="presParOf" srcId="{FE6CF09B-99E3-4164-8A4A-41EB4E34A1E6}" destId="{904CD62B-BCEC-4351-800D-01EEF0EBFF2D}" srcOrd="4" destOrd="0" presId="urn:microsoft.com/office/officeart/2005/8/layout/vList5"/>
    <dgm:cxn modelId="{C52959DE-8A5E-42ED-A702-AEF2F3DD44E8}" type="presParOf" srcId="{904CD62B-BCEC-4351-800D-01EEF0EBFF2D}" destId="{E4809181-77EC-465D-A4B0-920EC1D2955C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9F0E9AD-1848-49FD-8FDD-82D5D6FADE4F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13AE758-1E3B-4015-B691-66FC4F30E824}">
      <dgm:prSet/>
      <dgm:spPr/>
      <dgm:t>
        <a:bodyPr/>
        <a:lstStyle/>
        <a:p>
          <a:r>
            <a:rPr lang="en-US" b="1"/>
            <a:t>Key Findings:</a:t>
          </a:r>
          <a:endParaRPr lang="en-IN"/>
        </a:p>
      </dgm:t>
    </dgm:pt>
    <dgm:pt modelId="{5A9FB5CA-A83E-4EAE-B1AE-056D914DC537}" type="parTrans" cxnId="{DB47CCD7-9A05-41DB-93D2-A947BF265075}">
      <dgm:prSet/>
      <dgm:spPr/>
      <dgm:t>
        <a:bodyPr/>
        <a:lstStyle/>
        <a:p>
          <a:endParaRPr lang="en-IN"/>
        </a:p>
      </dgm:t>
    </dgm:pt>
    <dgm:pt modelId="{311B46DB-EACF-4BFF-BF47-7C62DF4B2195}" type="sibTrans" cxnId="{DB47CCD7-9A05-41DB-93D2-A947BF265075}">
      <dgm:prSet/>
      <dgm:spPr/>
      <dgm:t>
        <a:bodyPr/>
        <a:lstStyle/>
        <a:p>
          <a:endParaRPr lang="en-IN"/>
        </a:p>
      </dgm:t>
    </dgm:pt>
    <dgm:pt modelId="{124AA2EF-9274-4967-81D5-ACF98CA4D686}">
      <dgm:prSet/>
      <dgm:spPr/>
      <dgm:t>
        <a:bodyPr/>
        <a:lstStyle/>
        <a:p>
          <a:r>
            <a:rPr lang="en-US" b="1"/>
            <a:t>Financial Leakage:</a:t>
          </a:r>
          <a:r>
            <a:rPr lang="en-US"/>
            <a:t> Returns have resulted in a </a:t>
          </a:r>
          <a:r>
            <a:rPr lang="en-US" b="1"/>
            <a:t>$30.4K loss</a:t>
          </a:r>
          <a:r>
            <a:rPr lang="en-US"/>
            <a:t> in potential revenue.</a:t>
          </a:r>
          <a:endParaRPr lang="en-IN"/>
        </a:p>
      </dgm:t>
    </dgm:pt>
    <dgm:pt modelId="{3D1DEE7C-B353-4A12-9AF4-42044E03AC8D}" type="parTrans" cxnId="{58860948-E31E-430E-BE34-0D5C308D0660}">
      <dgm:prSet/>
      <dgm:spPr/>
      <dgm:t>
        <a:bodyPr/>
        <a:lstStyle/>
        <a:p>
          <a:endParaRPr lang="en-IN"/>
        </a:p>
      </dgm:t>
    </dgm:pt>
    <dgm:pt modelId="{1DEC94C1-6A9C-45CA-A1FB-6723A731D891}" type="sibTrans" cxnId="{58860948-E31E-430E-BE34-0D5C308D0660}">
      <dgm:prSet/>
      <dgm:spPr/>
      <dgm:t>
        <a:bodyPr/>
        <a:lstStyle/>
        <a:p>
          <a:endParaRPr lang="en-IN"/>
        </a:p>
      </dgm:t>
    </dgm:pt>
    <dgm:pt modelId="{C4A4E710-CE48-4592-A3C8-7735B25551B5}">
      <dgm:prSet/>
      <dgm:spPr/>
      <dgm:t>
        <a:bodyPr/>
        <a:lstStyle/>
        <a:p>
          <a:r>
            <a:rPr lang="en-US" b="1" dirty="0"/>
            <a:t>Category Risk:</a:t>
          </a:r>
          <a:r>
            <a:rPr lang="en-US" dirty="0"/>
            <a:t> </a:t>
          </a:r>
          <a:r>
            <a:rPr lang="en-US" b="1" dirty="0"/>
            <a:t>Home &amp; Kitchen</a:t>
          </a:r>
          <a:r>
            <a:rPr lang="en-US" dirty="0"/>
            <a:t> see a 5</a:t>
          </a:r>
          <a:r>
            <a:rPr lang="en-US" b="1" dirty="0"/>
            <a:t>.2% return rate</a:t>
          </a:r>
          <a:r>
            <a:rPr lang="en-US" dirty="0"/>
            <a:t>, significantly higher than Apparel.</a:t>
          </a:r>
          <a:endParaRPr lang="en-IN" dirty="0"/>
        </a:p>
      </dgm:t>
    </dgm:pt>
    <dgm:pt modelId="{9C893CC4-08C5-49C1-A6DD-22F249325C80}" type="parTrans" cxnId="{315A8E64-84E9-4493-88DE-82A07B7C767D}">
      <dgm:prSet/>
      <dgm:spPr/>
      <dgm:t>
        <a:bodyPr/>
        <a:lstStyle/>
        <a:p>
          <a:endParaRPr lang="en-IN"/>
        </a:p>
      </dgm:t>
    </dgm:pt>
    <dgm:pt modelId="{78E555AA-C239-45D5-8691-DDD7AF9D2C31}" type="sibTrans" cxnId="{315A8E64-84E9-4493-88DE-82A07B7C767D}">
      <dgm:prSet/>
      <dgm:spPr/>
      <dgm:t>
        <a:bodyPr/>
        <a:lstStyle/>
        <a:p>
          <a:endParaRPr lang="en-IN"/>
        </a:p>
      </dgm:t>
    </dgm:pt>
    <dgm:pt modelId="{7BD5E2B5-7107-42CB-A63B-7A3235E2E72F}">
      <dgm:prSet/>
      <dgm:spPr/>
      <dgm:t>
        <a:bodyPr/>
        <a:lstStyle/>
        <a:p>
          <a:r>
            <a:rPr lang="en-US" b="1" dirty="0"/>
            <a:t>The "Why":</a:t>
          </a:r>
          <a:r>
            <a:rPr lang="en-US" dirty="0"/>
            <a:t> Over 50% of returns are labeled as </a:t>
          </a:r>
          <a:r>
            <a:rPr lang="en-US" b="1" dirty="0"/>
            <a:t>"Defective"</a:t>
          </a:r>
          <a:r>
            <a:rPr lang="en-US" dirty="0"/>
            <a:t> or </a:t>
          </a:r>
          <a:r>
            <a:rPr lang="en-US" b="1" dirty="0"/>
            <a:t>"Wrong Item,"</a:t>
          </a:r>
          <a:r>
            <a:rPr lang="en-US" dirty="0"/>
            <a:t> pointing to warehouse or supplier quality issues rather than customer change-of-mind.</a:t>
          </a:r>
          <a:endParaRPr lang="en-IN" dirty="0"/>
        </a:p>
      </dgm:t>
    </dgm:pt>
    <dgm:pt modelId="{09E76902-1D08-4635-AC39-2BCC151CA76A}" type="parTrans" cxnId="{752F87DC-E730-4482-B497-55C78F244EFC}">
      <dgm:prSet/>
      <dgm:spPr/>
      <dgm:t>
        <a:bodyPr/>
        <a:lstStyle/>
        <a:p>
          <a:endParaRPr lang="en-IN"/>
        </a:p>
      </dgm:t>
    </dgm:pt>
    <dgm:pt modelId="{DC2B9415-0E9E-4997-A188-797A81FA17E8}" type="sibTrans" cxnId="{752F87DC-E730-4482-B497-55C78F244EFC}">
      <dgm:prSet/>
      <dgm:spPr/>
      <dgm:t>
        <a:bodyPr/>
        <a:lstStyle/>
        <a:p>
          <a:endParaRPr lang="en-IN"/>
        </a:p>
      </dgm:t>
    </dgm:pt>
    <dgm:pt modelId="{3223A348-8121-4A46-B08C-08BEAB960A98}" type="pres">
      <dgm:prSet presAssocID="{39F0E9AD-1848-49FD-8FDD-82D5D6FADE4F}" presName="compositeShape" presStyleCnt="0">
        <dgm:presLayoutVars>
          <dgm:dir/>
          <dgm:resizeHandles/>
        </dgm:presLayoutVars>
      </dgm:prSet>
      <dgm:spPr/>
    </dgm:pt>
    <dgm:pt modelId="{FECA1E16-2462-418C-91CA-E3B27DAEC900}" type="pres">
      <dgm:prSet presAssocID="{39F0E9AD-1848-49FD-8FDD-82D5D6FADE4F}" presName="pyramid" presStyleLbl="node1" presStyleIdx="0" presStyleCnt="1"/>
      <dgm:spPr/>
    </dgm:pt>
    <dgm:pt modelId="{6656C006-6FF8-42D9-B42F-C46245E6020A}" type="pres">
      <dgm:prSet presAssocID="{39F0E9AD-1848-49FD-8FDD-82D5D6FADE4F}" presName="theList" presStyleCnt="0"/>
      <dgm:spPr/>
    </dgm:pt>
    <dgm:pt modelId="{203C5487-147A-4CD2-BF2A-275CA2458C13}" type="pres">
      <dgm:prSet presAssocID="{913AE758-1E3B-4015-B691-66FC4F30E824}" presName="aNode" presStyleLbl="fgAcc1" presStyleIdx="0" presStyleCnt="4">
        <dgm:presLayoutVars>
          <dgm:bulletEnabled val="1"/>
        </dgm:presLayoutVars>
      </dgm:prSet>
      <dgm:spPr/>
    </dgm:pt>
    <dgm:pt modelId="{C1211A1C-31F5-47D5-B607-349DBC3F4B46}" type="pres">
      <dgm:prSet presAssocID="{913AE758-1E3B-4015-B691-66FC4F30E824}" presName="aSpace" presStyleCnt="0"/>
      <dgm:spPr/>
    </dgm:pt>
    <dgm:pt modelId="{88E2CFF1-D3C0-4C7D-8F13-872FAC2A6785}" type="pres">
      <dgm:prSet presAssocID="{124AA2EF-9274-4967-81D5-ACF98CA4D686}" presName="aNode" presStyleLbl="fgAcc1" presStyleIdx="1" presStyleCnt="4">
        <dgm:presLayoutVars>
          <dgm:bulletEnabled val="1"/>
        </dgm:presLayoutVars>
      </dgm:prSet>
      <dgm:spPr/>
    </dgm:pt>
    <dgm:pt modelId="{335680AB-2BFC-4F7C-8E7A-359E9BA37412}" type="pres">
      <dgm:prSet presAssocID="{124AA2EF-9274-4967-81D5-ACF98CA4D686}" presName="aSpace" presStyleCnt="0"/>
      <dgm:spPr/>
    </dgm:pt>
    <dgm:pt modelId="{402E8210-281B-40DC-BC03-7EA37CB79FFD}" type="pres">
      <dgm:prSet presAssocID="{C4A4E710-CE48-4592-A3C8-7735B25551B5}" presName="aNode" presStyleLbl="fgAcc1" presStyleIdx="2" presStyleCnt="4">
        <dgm:presLayoutVars>
          <dgm:bulletEnabled val="1"/>
        </dgm:presLayoutVars>
      </dgm:prSet>
      <dgm:spPr/>
    </dgm:pt>
    <dgm:pt modelId="{D760CE63-CA6B-45E9-8FC9-81F986A96D67}" type="pres">
      <dgm:prSet presAssocID="{C4A4E710-CE48-4592-A3C8-7735B25551B5}" presName="aSpace" presStyleCnt="0"/>
      <dgm:spPr/>
    </dgm:pt>
    <dgm:pt modelId="{5B1CE42C-4F41-49C2-91A2-AAF8C02A1877}" type="pres">
      <dgm:prSet presAssocID="{7BD5E2B5-7107-42CB-A63B-7A3235E2E72F}" presName="aNode" presStyleLbl="fgAcc1" presStyleIdx="3" presStyleCnt="4">
        <dgm:presLayoutVars>
          <dgm:bulletEnabled val="1"/>
        </dgm:presLayoutVars>
      </dgm:prSet>
      <dgm:spPr/>
    </dgm:pt>
    <dgm:pt modelId="{DD94CB7A-8375-466D-ACC4-D7F11276E2ED}" type="pres">
      <dgm:prSet presAssocID="{7BD5E2B5-7107-42CB-A63B-7A3235E2E72F}" presName="aSpace" presStyleCnt="0"/>
      <dgm:spPr/>
    </dgm:pt>
  </dgm:ptLst>
  <dgm:cxnLst>
    <dgm:cxn modelId="{E631FB16-C1FA-47C5-9B04-C5EE5F705BF7}" type="presOf" srcId="{C4A4E710-CE48-4592-A3C8-7735B25551B5}" destId="{402E8210-281B-40DC-BC03-7EA37CB79FFD}" srcOrd="0" destOrd="0" presId="urn:microsoft.com/office/officeart/2005/8/layout/pyramid2"/>
    <dgm:cxn modelId="{315A8E64-84E9-4493-88DE-82A07B7C767D}" srcId="{39F0E9AD-1848-49FD-8FDD-82D5D6FADE4F}" destId="{C4A4E710-CE48-4592-A3C8-7735B25551B5}" srcOrd="2" destOrd="0" parTransId="{9C893CC4-08C5-49C1-A6DD-22F249325C80}" sibTransId="{78E555AA-C239-45D5-8691-DDD7AF9D2C31}"/>
    <dgm:cxn modelId="{58860948-E31E-430E-BE34-0D5C308D0660}" srcId="{39F0E9AD-1848-49FD-8FDD-82D5D6FADE4F}" destId="{124AA2EF-9274-4967-81D5-ACF98CA4D686}" srcOrd="1" destOrd="0" parTransId="{3D1DEE7C-B353-4A12-9AF4-42044E03AC8D}" sibTransId="{1DEC94C1-6A9C-45CA-A1FB-6723A731D891}"/>
    <dgm:cxn modelId="{049536A1-7A14-4830-92AE-6C7FD3C7C89B}" type="presOf" srcId="{7BD5E2B5-7107-42CB-A63B-7A3235E2E72F}" destId="{5B1CE42C-4F41-49C2-91A2-AAF8C02A1877}" srcOrd="0" destOrd="0" presId="urn:microsoft.com/office/officeart/2005/8/layout/pyramid2"/>
    <dgm:cxn modelId="{734603A2-CD51-4E0E-A56E-BEA8A8157F30}" type="presOf" srcId="{124AA2EF-9274-4967-81D5-ACF98CA4D686}" destId="{88E2CFF1-D3C0-4C7D-8F13-872FAC2A6785}" srcOrd="0" destOrd="0" presId="urn:microsoft.com/office/officeart/2005/8/layout/pyramid2"/>
    <dgm:cxn modelId="{18A42CAD-5234-4484-A53B-381B268C3C8D}" type="presOf" srcId="{913AE758-1E3B-4015-B691-66FC4F30E824}" destId="{203C5487-147A-4CD2-BF2A-275CA2458C13}" srcOrd="0" destOrd="0" presId="urn:microsoft.com/office/officeart/2005/8/layout/pyramid2"/>
    <dgm:cxn modelId="{DB47CCD7-9A05-41DB-93D2-A947BF265075}" srcId="{39F0E9AD-1848-49FD-8FDD-82D5D6FADE4F}" destId="{913AE758-1E3B-4015-B691-66FC4F30E824}" srcOrd="0" destOrd="0" parTransId="{5A9FB5CA-A83E-4EAE-B1AE-056D914DC537}" sibTransId="{311B46DB-EACF-4BFF-BF47-7C62DF4B2195}"/>
    <dgm:cxn modelId="{752F87DC-E730-4482-B497-55C78F244EFC}" srcId="{39F0E9AD-1848-49FD-8FDD-82D5D6FADE4F}" destId="{7BD5E2B5-7107-42CB-A63B-7A3235E2E72F}" srcOrd="3" destOrd="0" parTransId="{09E76902-1D08-4635-AC39-2BCC151CA76A}" sibTransId="{DC2B9415-0E9E-4997-A188-797A81FA17E8}"/>
    <dgm:cxn modelId="{C71387EF-FE76-4459-BF64-6C4893A0E151}" type="presOf" srcId="{39F0E9AD-1848-49FD-8FDD-82D5D6FADE4F}" destId="{3223A348-8121-4A46-B08C-08BEAB960A98}" srcOrd="0" destOrd="0" presId="urn:microsoft.com/office/officeart/2005/8/layout/pyramid2"/>
    <dgm:cxn modelId="{1386FD12-4D5B-47D0-A196-A69506C557F8}" type="presParOf" srcId="{3223A348-8121-4A46-B08C-08BEAB960A98}" destId="{FECA1E16-2462-418C-91CA-E3B27DAEC900}" srcOrd="0" destOrd="0" presId="urn:microsoft.com/office/officeart/2005/8/layout/pyramid2"/>
    <dgm:cxn modelId="{4A29B7CA-5DF5-4B65-B84E-A37D793A3236}" type="presParOf" srcId="{3223A348-8121-4A46-B08C-08BEAB960A98}" destId="{6656C006-6FF8-42D9-B42F-C46245E6020A}" srcOrd="1" destOrd="0" presId="urn:microsoft.com/office/officeart/2005/8/layout/pyramid2"/>
    <dgm:cxn modelId="{8C8CDCD1-B539-4C34-9B12-2B76D95D140E}" type="presParOf" srcId="{6656C006-6FF8-42D9-B42F-C46245E6020A}" destId="{203C5487-147A-4CD2-BF2A-275CA2458C13}" srcOrd="0" destOrd="0" presId="urn:microsoft.com/office/officeart/2005/8/layout/pyramid2"/>
    <dgm:cxn modelId="{05C659F4-A7D7-4725-B60B-BE974EA057AC}" type="presParOf" srcId="{6656C006-6FF8-42D9-B42F-C46245E6020A}" destId="{C1211A1C-31F5-47D5-B607-349DBC3F4B46}" srcOrd="1" destOrd="0" presId="urn:microsoft.com/office/officeart/2005/8/layout/pyramid2"/>
    <dgm:cxn modelId="{DA55BC58-07F7-447F-A5E1-A45DB4B8EB39}" type="presParOf" srcId="{6656C006-6FF8-42D9-B42F-C46245E6020A}" destId="{88E2CFF1-D3C0-4C7D-8F13-872FAC2A6785}" srcOrd="2" destOrd="0" presId="urn:microsoft.com/office/officeart/2005/8/layout/pyramid2"/>
    <dgm:cxn modelId="{801B3C9F-1773-4D16-9C25-7AE5414EA46F}" type="presParOf" srcId="{6656C006-6FF8-42D9-B42F-C46245E6020A}" destId="{335680AB-2BFC-4F7C-8E7A-359E9BA37412}" srcOrd="3" destOrd="0" presId="urn:microsoft.com/office/officeart/2005/8/layout/pyramid2"/>
    <dgm:cxn modelId="{33BF6C60-2BA1-4AF6-9885-5C665B1DF0D5}" type="presParOf" srcId="{6656C006-6FF8-42D9-B42F-C46245E6020A}" destId="{402E8210-281B-40DC-BC03-7EA37CB79FFD}" srcOrd="4" destOrd="0" presId="urn:microsoft.com/office/officeart/2005/8/layout/pyramid2"/>
    <dgm:cxn modelId="{D360DCDB-611F-4950-8517-1249E8BADAB5}" type="presParOf" srcId="{6656C006-6FF8-42D9-B42F-C46245E6020A}" destId="{D760CE63-CA6B-45E9-8FC9-81F986A96D67}" srcOrd="5" destOrd="0" presId="urn:microsoft.com/office/officeart/2005/8/layout/pyramid2"/>
    <dgm:cxn modelId="{B6BE01D0-D0E6-4F1D-9C45-F04C4E2A0B0C}" type="presParOf" srcId="{6656C006-6FF8-42D9-B42F-C46245E6020A}" destId="{5B1CE42C-4F41-49C2-91A2-AAF8C02A1877}" srcOrd="6" destOrd="0" presId="urn:microsoft.com/office/officeart/2005/8/layout/pyramid2"/>
    <dgm:cxn modelId="{5E22DA86-1EC8-47F7-B634-32DF6BD6FDC7}" type="presParOf" srcId="{6656C006-6FF8-42D9-B42F-C46245E6020A}" destId="{DD94CB7A-8375-466D-ACC4-D7F11276E2ED}" srcOrd="7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72FCFB5-1BB9-4B8B-93F9-83E5F6B6AF3E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069270F-7D2A-4E4E-AB3B-E2631F867D36}">
      <dgm:prSet/>
      <dgm:spPr/>
      <dgm:t>
        <a:bodyPr/>
        <a:lstStyle/>
        <a:p>
          <a:r>
            <a:rPr lang="en-US" b="1" i="0" baseline="0"/>
            <a:t>Revenue Protection:</a:t>
          </a:r>
          <a:r>
            <a:rPr lang="en-US" b="0" i="0" baseline="0"/>
            <a:t> Identified a </a:t>
          </a:r>
          <a:r>
            <a:rPr lang="en-US" b="1" i="0" baseline="0"/>
            <a:t>$516K annual revenue</a:t>
          </a:r>
          <a:r>
            <a:rPr lang="en-US" b="0" i="0" baseline="0"/>
            <a:t> stream that requires stabilized retention strategies to maintain.</a:t>
          </a:r>
          <a:endParaRPr lang="en-IN"/>
        </a:p>
      </dgm:t>
    </dgm:pt>
    <dgm:pt modelId="{15A76F1F-1A2B-4362-A137-F853A0EDC097}" type="parTrans" cxnId="{FE740304-3481-46B2-A70B-271F34C7E45A}">
      <dgm:prSet/>
      <dgm:spPr/>
      <dgm:t>
        <a:bodyPr/>
        <a:lstStyle/>
        <a:p>
          <a:endParaRPr lang="en-IN"/>
        </a:p>
      </dgm:t>
    </dgm:pt>
    <dgm:pt modelId="{9BACCCF2-750B-4204-9378-F7E3491294CF}" type="sibTrans" cxnId="{FE740304-3481-46B2-A70B-271F34C7E45A}">
      <dgm:prSet/>
      <dgm:spPr/>
      <dgm:t>
        <a:bodyPr/>
        <a:lstStyle/>
        <a:p>
          <a:endParaRPr lang="en-IN"/>
        </a:p>
      </dgm:t>
    </dgm:pt>
    <dgm:pt modelId="{9AA28362-BFAF-47A6-90CA-BA0955B04584}">
      <dgm:prSet/>
      <dgm:spPr/>
      <dgm:t>
        <a:bodyPr/>
        <a:lstStyle/>
        <a:p>
          <a:r>
            <a:rPr lang="en-US" b="1" i="0" baseline="0"/>
            <a:t>Cost Recovery:</a:t>
          </a:r>
          <a:r>
            <a:rPr lang="en-US" b="0" i="0" baseline="0"/>
            <a:t> Pinpointed </a:t>
          </a:r>
          <a:r>
            <a:rPr lang="en-US" b="1" i="0" baseline="0"/>
            <a:t>$30.4K in return losses</a:t>
          </a:r>
          <a:r>
            <a:rPr lang="en-US" b="0" i="0" baseline="0"/>
            <a:t>; addressing the "Defective" and "Wrong Item" categories offers an immediate path to recovering lost margins.</a:t>
          </a:r>
          <a:endParaRPr lang="en-IN"/>
        </a:p>
      </dgm:t>
    </dgm:pt>
    <dgm:pt modelId="{BCDBC589-F8D8-4F74-8D75-7516FA6A1BF7}" type="parTrans" cxnId="{8935F76E-BDB9-4BD8-9412-49FCE0719036}">
      <dgm:prSet/>
      <dgm:spPr/>
      <dgm:t>
        <a:bodyPr/>
        <a:lstStyle/>
        <a:p>
          <a:endParaRPr lang="en-IN"/>
        </a:p>
      </dgm:t>
    </dgm:pt>
    <dgm:pt modelId="{AFB670E3-B9B2-4377-9EA3-5AB19F1CAC0E}" type="sibTrans" cxnId="{8935F76E-BDB9-4BD8-9412-49FCE0719036}">
      <dgm:prSet/>
      <dgm:spPr/>
      <dgm:t>
        <a:bodyPr/>
        <a:lstStyle/>
        <a:p>
          <a:endParaRPr lang="en-IN"/>
        </a:p>
      </dgm:t>
    </dgm:pt>
    <dgm:pt modelId="{46010902-D4C2-4338-AFA5-67D1B5760CEE}">
      <dgm:prSet/>
      <dgm:spPr/>
      <dgm:t>
        <a:bodyPr/>
        <a:lstStyle/>
        <a:p>
          <a:r>
            <a:rPr lang="en-US" b="1" i="0" baseline="0"/>
            <a:t>Channel Efficiency:</a:t>
          </a:r>
          <a:r>
            <a:rPr lang="en-US" b="0" i="0" baseline="0"/>
            <a:t> Documented a </a:t>
          </a:r>
          <a:r>
            <a:rPr lang="en-US" b="1" i="0" baseline="0"/>
            <a:t>12% higher profit margin</a:t>
          </a:r>
          <a:r>
            <a:rPr lang="en-US" b="0" i="0" baseline="0"/>
            <a:t> in Online vs. In-Store sales, providing a clear roadmap for high-margin budget allocation.</a:t>
          </a:r>
          <a:endParaRPr lang="en-IN"/>
        </a:p>
      </dgm:t>
    </dgm:pt>
    <dgm:pt modelId="{54841031-4FE7-43CF-A5EE-A5F346286522}" type="parTrans" cxnId="{56A41BDD-40AB-4CF3-8D36-6434FB2867BC}">
      <dgm:prSet/>
      <dgm:spPr/>
      <dgm:t>
        <a:bodyPr/>
        <a:lstStyle/>
        <a:p>
          <a:endParaRPr lang="en-IN"/>
        </a:p>
      </dgm:t>
    </dgm:pt>
    <dgm:pt modelId="{C9907A48-AEBA-4DD4-B5B0-28F2CB029DB4}" type="sibTrans" cxnId="{56A41BDD-40AB-4CF3-8D36-6434FB2867BC}">
      <dgm:prSet/>
      <dgm:spPr/>
      <dgm:t>
        <a:bodyPr/>
        <a:lstStyle/>
        <a:p>
          <a:endParaRPr lang="en-IN"/>
        </a:p>
      </dgm:t>
    </dgm:pt>
    <dgm:pt modelId="{D40193F3-7725-4212-8616-072DDD5C80C7}">
      <dgm:prSet/>
      <dgm:spPr/>
      <dgm:t>
        <a:bodyPr/>
        <a:lstStyle/>
        <a:p>
          <a:r>
            <a:rPr lang="en-US" b="1" i="0" baseline="0" dirty="0"/>
            <a:t>High-Value Retention:</a:t>
          </a:r>
          <a:r>
            <a:rPr lang="en-US" b="0" i="0" baseline="0" dirty="0"/>
            <a:t> Identified top-tier loyalists (like Kathy and Christopher) who contribute </a:t>
          </a:r>
          <a:r>
            <a:rPr lang="en-US" b="1" i="0" baseline="0" dirty="0"/>
            <a:t>4x more profit</a:t>
          </a:r>
          <a:r>
            <a:rPr lang="en-US" b="0" i="0" baseline="0" dirty="0"/>
            <a:t> than the average customer, highlighting the financial importance of VIP retention.</a:t>
          </a:r>
          <a:endParaRPr lang="en-IN" dirty="0"/>
        </a:p>
      </dgm:t>
    </dgm:pt>
    <dgm:pt modelId="{E02BA7DE-275A-46DB-B7B6-9A7F5D7520FA}" type="parTrans" cxnId="{9659FE50-222E-4767-9F34-3FC9068B9E04}">
      <dgm:prSet/>
      <dgm:spPr/>
      <dgm:t>
        <a:bodyPr/>
        <a:lstStyle/>
        <a:p>
          <a:endParaRPr lang="en-IN"/>
        </a:p>
      </dgm:t>
    </dgm:pt>
    <dgm:pt modelId="{36098B14-A76D-41E9-9FF4-5E7877A1BD4F}" type="sibTrans" cxnId="{9659FE50-222E-4767-9F34-3FC9068B9E04}">
      <dgm:prSet/>
      <dgm:spPr/>
      <dgm:t>
        <a:bodyPr/>
        <a:lstStyle/>
        <a:p>
          <a:endParaRPr lang="en-IN"/>
        </a:p>
      </dgm:t>
    </dgm:pt>
    <dgm:pt modelId="{011F0CEF-3631-46EA-8A8B-055106F978BD}" type="pres">
      <dgm:prSet presAssocID="{F72FCFB5-1BB9-4B8B-93F9-83E5F6B6AF3E}" presName="CompostProcess" presStyleCnt="0">
        <dgm:presLayoutVars>
          <dgm:dir/>
          <dgm:resizeHandles val="exact"/>
        </dgm:presLayoutVars>
      </dgm:prSet>
      <dgm:spPr/>
    </dgm:pt>
    <dgm:pt modelId="{F7EA1524-31AA-4A05-9DB7-BE2B910F6920}" type="pres">
      <dgm:prSet presAssocID="{F72FCFB5-1BB9-4B8B-93F9-83E5F6B6AF3E}" presName="arrow" presStyleLbl="bgShp" presStyleIdx="0" presStyleCnt="1"/>
      <dgm:spPr/>
    </dgm:pt>
    <dgm:pt modelId="{828E8EC9-8031-4735-8CD9-0DAB5EECD7B7}" type="pres">
      <dgm:prSet presAssocID="{F72FCFB5-1BB9-4B8B-93F9-83E5F6B6AF3E}" presName="linearProcess" presStyleCnt="0"/>
      <dgm:spPr/>
    </dgm:pt>
    <dgm:pt modelId="{18ED16BF-2E3B-4E5A-88B4-E37CBD49F03D}" type="pres">
      <dgm:prSet presAssocID="{1069270F-7D2A-4E4E-AB3B-E2631F867D36}" presName="textNode" presStyleLbl="node1" presStyleIdx="0" presStyleCnt="4">
        <dgm:presLayoutVars>
          <dgm:bulletEnabled val="1"/>
        </dgm:presLayoutVars>
      </dgm:prSet>
      <dgm:spPr/>
    </dgm:pt>
    <dgm:pt modelId="{49B34096-A223-4078-BE3A-EC50EC849A6C}" type="pres">
      <dgm:prSet presAssocID="{9BACCCF2-750B-4204-9378-F7E3491294CF}" presName="sibTrans" presStyleCnt="0"/>
      <dgm:spPr/>
    </dgm:pt>
    <dgm:pt modelId="{0985CF14-0DB0-4309-9186-7AE844D602AE}" type="pres">
      <dgm:prSet presAssocID="{9AA28362-BFAF-47A6-90CA-BA0955B04584}" presName="textNode" presStyleLbl="node1" presStyleIdx="1" presStyleCnt="4">
        <dgm:presLayoutVars>
          <dgm:bulletEnabled val="1"/>
        </dgm:presLayoutVars>
      </dgm:prSet>
      <dgm:spPr/>
    </dgm:pt>
    <dgm:pt modelId="{F2DE3FF4-61BB-4FC9-8912-549E80FD62A1}" type="pres">
      <dgm:prSet presAssocID="{AFB670E3-B9B2-4377-9EA3-5AB19F1CAC0E}" presName="sibTrans" presStyleCnt="0"/>
      <dgm:spPr/>
    </dgm:pt>
    <dgm:pt modelId="{21405CAA-8FFA-4CCA-932F-F5CDAC1F144A}" type="pres">
      <dgm:prSet presAssocID="{46010902-D4C2-4338-AFA5-67D1B5760CEE}" presName="textNode" presStyleLbl="node1" presStyleIdx="2" presStyleCnt="4">
        <dgm:presLayoutVars>
          <dgm:bulletEnabled val="1"/>
        </dgm:presLayoutVars>
      </dgm:prSet>
      <dgm:spPr/>
    </dgm:pt>
    <dgm:pt modelId="{EB126264-25A6-46EA-AF33-27031F275FF0}" type="pres">
      <dgm:prSet presAssocID="{C9907A48-AEBA-4DD4-B5B0-28F2CB029DB4}" presName="sibTrans" presStyleCnt="0"/>
      <dgm:spPr/>
    </dgm:pt>
    <dgm:pt modelId="{5FE6AA1E-8F19-4589-90E7-9D2196BCCCD0}" type="pres">
      <dgm:prSet presAssocID="{D40193F3-7725-4212-8616-072DDD5C80C7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FE740304-3481-46B2-A70B-271F34C7E45A}" srcId="{F72FCFB5-1BB9-4B8B-93F9-83E5F6B6AF3E}" destId="{1069270F-7D2A-4E4E-AB3B-E2631F867D36}" srcOrd="0" destOrd="0" parTransId="{15A76F1F-1A2B-4362-A137-F853A0EDC097}" sibTransId="{9BACCCF2-750B-4204-9378-F7E3491294CF}"/>
    <dgm:cxn modelId="{8935F76E-BDB9-4BD8-9412-49FCE0719036}" srcId="{F72FCFB5-1BB9-4B8B-93F9-83E5F6B6AF3E}" destId="{9AA28362-BFAF-47A6-90CA-BA0955B04584}" srcOrd="1" destOrd="0" parTransId="{BCDBC589-F8D8-4F74-8D75-7516FA6A1BF7}" sibTransId="{AFB670E3-B9B2-4377-9EA3-5AB19F1CAC0E}"/>
    <dgm:cxn modelId="{F3680450-828D-4492-B404-16FAFDB1A736}" type="presOf" srcId="{F72FCFB5-1BB9-4B8B-93F9-83E5F6B6AF3E}" destId="{011F0CEF-3631-46EA-8A8B-055106F978BD}" srcOrd="0" destOrd="0" presId="urn:microsoft.com/office/officeart/2005/8/layout/hProcess9"/>
    <dgm:cxn modelId="{9659FE50-222E-4767-9F34-3FC9068B9E04}" srcId="{F72FCFB5-1BB9-4B8B-93F9-83E5F6B6AF3E}" destId="{D40193F3-7725-4212-8616-072DDD5C80C7}" srcOrd="3" destOrd="0" parTransId="{E02BA7DE-275A-46DB-B7B6-9A7F5D7520FA}" sibTransId="{36098B14-A76D-41E9-9FF4-5E7877A1BD4F}"/>
    <dgm:cxn modelId="{CBB12184-A43E-4FE4-BA5B-AED8C7A33FBF}" type="presOf" srcId="{D40193F3-7725-4212-8616-072DDD5C80C7}" destId="{5FE6AA1E-8F19-4589-90E7-9D2196BCCCD0}" srcOrd="0" destOrd="0" presId="urn:microsoft.com/office/officeart/2005/8/layout/hProcess9"/>
    <dgm:cxn modelId="{F541349C-C365-4474-BCEB-CF50F74680ED}" type="presOf" srcId="{46010902-D4C2-4338-AFA5-67D1B5760CEE}" destId="{21405CAA-8FFA-4CCA-932F-F5CDAC1F144A}" srcOrd="0" destOrd="0" presId="urn:microsoft.com/office/officeart/2005/8/layout/hProcess9"/>
    <dgm:cxn modelId="{1C8474A3-BF8A-4ECE-847D-0DD1F1125AF2}" type="presOf" srcId="{1069270F-7D2A-4E4E-AB3B-E2631F867D36}" destId="{18ED16BF-2E3B-4E5A-88B4-E37CBD49F03D}" srcOrd="0" destOrd="0" presId="urn:microsoft.com/office/officeart/2005/8/layout/hProcess9"/>
    <dgm:cxn modelId="{56A41BDD-40AB-4CF3-8D36-6434FB2867BC}" srcId="{F72FCFB5-1BB9-4B8B-93F9-83E5F6B6AF3E}" destId="{46010902-D4C2-4338-AFA5-67D1B5760CEE}" srcOrd="2" destOrd="0" parTransId="{54841031-4FE7-43CF-A5EE-A5F346286522}" sibTransId="{C9907A48-AEBA-4DD4-B5B0-28F2CB029DB4}"/>
    <dgm:cxn modelId="{FF37D1EA-89DF-4B48-8ADE-9F3ED5D8A40E}" type="presOf" srcId="{9AA28362-BFAF-47A6-90CA-BA0955B04584}" destId="{0985CF14-0DB0-4309-9186-7AE844D602AE}" srcOrd="0" destOrd="0" presId="urn:microsoft.com/office/officeart/2005/8/layout/hProcess9"/>
    <dgm:cxn modelId="{4E591AB6-CDF0-44CA-B922-2ADA0F120672}" type="presParOf" srcId="{011F0CEF-3631-46EA-8A8B-055106F978BD}" destId="{F7EA1524-31AA-4A05-9DB7-BE2B910F6920}" srcOrd="0" destOrd="0" presId="urn:microsoft.com/office/officeart/2005/8/layout/hProcess9"/>
    <dgm:cxn modelId="{10623603-338F-4863-BF60-267416332946}" type="presParOf" srcId="{011F0CEF-3631-46EA-8A8B-055106F978BD}" destId="{828E8EC9-8031-4735-8CD9-0DAB5EECD7B7}" srcOrd="1" destOrd="0" presId="urn:microsoft.com/office/officeart/2005/8/layout/hProcess9"/>
    <dgm:cxn modelId="{A7E92F57-8A0A-424D-9524-52D03DFEC4E5}" type="presParOf" srcId="{828E8EC9-8031-4735-8CD9-0DAB5EECD7B7}" destId="{18ED16BF-2E3B-4E5A-88B4-E37CBD49F03D}" srcOrd="0" destOrd="0" presId="urn:microsoft.com/office/officeart/2005/8/layout/hProcess9"/>
    <dgm:cxn modelId="{5BC8E7CB-D978-41D7-A4EA-0A3673B3C4B6}" type="presParOf" srcId="{828E8EC9-8031-4735-8CD9-0DAB5EECD7B7}" destId="{49B34096-A223-4078-BE3A-EC50EC849A6C}" srcOrd="1" destOrd="0" presId="urn:microsoft.com/office/officeart/2005/8/layout/hProcess9"/>
    <dgm:cxn modelId="{8829D54A-BE5B-42F2-BA32-55AA6CFF235B}" type="presParOf" srcId="{828E8EC9-8031-4735-8CD9-0DAB5EECD7B7}" destId="{0985CF14-0DB0-4309-9186-7AE844D602AE}" srcOrd="2" destOrd="0" presId="urn:microsoft.com/office/officeart/2005/8/layout/hProcess9"/>
    <dgm:cxn modelId="{4CC631E6-0553-4D6C-8C7B-E08BC5C87E2E}" type="presParOf" srcId="{828E8EC9-8031-4735-8CD9-0DAB5EECD7B7}" destId="{F2DE3FF4-61BB-4FC9-8912-549E80FD62A1}" srcOrd="3" destOrd="0" presId="urn:microsoft.com/office/officeart/2005/8/layout/hProcess9"/>
    <dgm:cxn modelId="{2D5DB15C-87D3-4D3B-85A2-C5D196C9A851}" type="presParOf" srcId="{828E8EC9-8031-4735-8CD9-0DAB5EECD7B7}" destId="{21405CAA-8FFA-4CCA-932F-F5CDAC1F144A}" srcOrd="4" destOrd="0" presId="urn:microsoft.com/office/officeart/2005/8/layout/hProcess9"/>
    <dgm:cxn modelId="{2CF5F8D0-0A86-40B2-8AA8-1948A51E75FA}" type="presParOf" srcId="{828E8EC9-8031-4735-8CD9-0DAB5EECD7B7}" destId="{EB126264-25A6-46EA-AF33-27031F275FF0}" srcOrd="5" destOrd="0" presId="urn:microsoft.com/office/officeart/2005/8/layout/hProcess9"/>
    <dgm:cxn modelId="{0E9063C7-46F5-46A5-8F53-05612F992478}" type="presParOf" srcId="{828E8EC9-8031-4735-8CD9-0DAB5EECD7B7}" destId="{5FE6AA1E-8F19-4589-90E7-9D2196BCCCD0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E300C28-E4C5-4079-93B5-977DED20CDDF}" type="doc">
      <dgm:prSet loTypeId="urn:microsoft.com/office/officeart/2005/8/layout/vList3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C9D63B5-DBBF-40B9-AD2F-2EEE6307143A}">
      <dgm:prSet/>
      <dgm:spPr/>
      <dgm:t>
        <a:bodyPr/>
        <a:lstStyle/>
        <a:p>
          <a:r>
            <a:rPr lang="en-US" b="1" i="0" baseline="0"/>
            <a:t>Reduce "Zero-Purchase" Churn:</a:t>
          </a:r>
          <a:r>
            <a:rPr lang="en-US" b="0" i="0" baseline="0"/>
            <a:t> Launch a "Welcome" email automation with a 15% discount code for new sign-ups to convert the 67% churn segment into active buyers.</a:t>
          </a:r>
          <a:endParaRPr lang="en-IN"/>
        </a:p>
      </dgm:t>
    </dgm:pt>
    <dgm:pt modelId="{009BD31E-FB34-4CCF-9192-687309103459}" type="parTrans" cxnId="{E2E094D3-E54A-4643-9333-6FD0B8B80826}">
      <dgm:prSet/>
      <dgm:spPr/>
      <dgm:t>
        <a:bodyPr/>
        <a:lstStyle/>
        <a:p>
          <a:endParaRPr lang="en-IN"/>
        </a:p>
      </dgm:t>
    </dgm:pt>
    <dgm:pt modelId="{3D298A35-8A92-4A54-9400-097202FE8776}" type="sibTrans" cxnId="{E2E094D3-E54A-4643-9333-6FD0B8B80826}">
      <dgm:prSet/>
      <dgm:spPr/>
      <dgm:t>
        <a:bodyPr/>
        <a:lstStyle/>
        <a:p>
          <a:endParaRPr lang="en-IN"/>
        </a:p>
      </dgm:t>
    </dgm:pt>
    <dgm:pt modelId="{7314CDA2-3C58-45ED-A6C8-968A5141C90B}">
      <dgm:prSet/>
      <dgm:spPr/>
      <dgm:t>
        <a:bodyPr/>
        <a:lstStyle/>
        <a:p>
          <a:r>
            <a:rPr lang="en-US" b="1" i="0" baseline="0" dirty="0"/>
            <a:t>Retention Program:</a:t>
          </a:r>
          <a:r>
            <a:rPr lang="en-US" b="0" i="0" baseline="0" dirty="0"/>
            <a:t> Create a "VIP Tier" for top contributors like </a:t>
          </a:r>
          <a:r>
            <a:rPr lang="en-US" b="1" i="0" baseline="0" dirty="0"/>
            <a:t>Kathy and Christopher</a:t>
          </a:r>
          <a:r>
            <a:rPr lang="en-US" b="0" i="0" baseline="0" dirty="0"/>
            <a:t>, offering early access to new product launches to maximize Customer Lifetime Value (CLV).</a:t>
          </a:r>
          <a:endParaRPr lang="en-IN" dirty="0"/>
        </a:p>
      </dgm:t>
    </dgm:pt>
    <dgm:pt modelId="{3CB0E69A-3AD5-4441-8064-4786C14B3CCA}" type="sibTrans" cxnId="{F65F06C7-5C7C-411F-8F69-5B2F03CAE722}">
      <dgm:prSet/>
      <dgm:spPr/>
      <dgm:t>
        <a:bodyPr/>
        <a:lstStyle/>
        <a:p>
          <a:endParaRPr lang="en-IN"/>
        </a:p>
      </dgm:t>
    </dgm:pt>
    <dgm:pt modelId="{BCCB1BAC-1D98-4EBF-B56B-9CBF3AA0F4C2}" type="parTrans" cxnId="{F65F06C7-5C7C-411F-8F69-5B2F03CAE722}">
      <dgm:prSet/>
      <dgm:spPr/>
      <dgm:t>
        <a:bodyPr/>
        <a:lstStyle/>
        <a:p>
          <a:endParaRPr lang="en-IN"/>
        </a:p>
      </dgm:t>
    </dgm:pt>
    <dgm:pt modelId="{F48A4E19-B8ED-4C28-9431-AB9157D73090}">
      <dgm:prSet/>
      <dgm:spPr/>
      <dgm:t>
        <a:bodyPr/>
        <a:lstStyle/>
        <a:p>
          <a:r>
            <a:rPr lang="en-US" b="1" i="0" baseline="0" dirty="0"/>
            <a:t>Regional Expansion:</a:t>
          </a:r>
          <a:r>
            <a:rPr lang="en-US" b="0" i="0" baseline="0" dirty="0"/>
            <a:t> Prioritize the </a:t>
          </a:r>
          <a:r>
            <a:rPr lang="en-US" b="1" i="0" baseline="0" dirty="0"/>
            <a:t>South</a:t>
          </a:r>
          <a:r>
            <a:rPr lang="en-US" b="0" i="0" baseline="0" dirty="0"/>
            <a:t> and </a:t>
          </a:r>
          <a:r>
            <a:rPr lang="en-US" b="1" i="0" baseline="0" dirty="0"/>
            <a:t>East</a:t>
          </a:r>
          <a:r>
            <a:rPr lang="en-US" b="0" i="0" baseline="0" dirty="0"/>
            <a:t> regions for the next physical flagship stores, while expanding the </a:t>
          </a:r>
          <a:r>
            <a:rPr lang="en-US" b="1" i="0" baseline="0" dirty="0"/>
            <a:t>Online</a:t>
          </a:r>
          <a:r>
            <a:rPr lang="en-US" b="0" i="0" baseline="0" dirty="0"/>
            <a:t> platform to leverage its 12% higher profit margin.</a:t>
          </a:r>
          <a:endParaRPr lang="en-IN" dirty="0"/>
        </a:p>
      </dgm:t>
    </dgm:pt>
    <dgm:pt modelId="{DDB7FD01-6635-4B5C-B6DA-E2A0D30C9A71}" type="sibTrans" cxnId="{2FD7C98A-332B-49A6-B121-5730ABFE3319}">
      <dgm:prSet/>
      <dgm:spPr/>
      <dgm:t>
        <a:bodyPr/>
        <a:lstStyle/>
        <a:p>
          <a:endParaRPr lang="en-IN"/>
        </a:p>
      </dgm:t>
    </dgm:pt>
    <dgm:pt modelId="{346B6738-2CCE-4E90-8D19-F8821966CDDB}" type="parTrans" cxnId="{2FD7C98A-332B-49A6-B121-5730ABFE3319}">
      <dgm:prSet/>
      <dgm:spPr/>
      <dgm:t>
        <a:bodyPr/>
        <a:lstStyle/>
        <a:p>
          <a:endParaRPr lang="en-IN"/>
        </a:p>
      </dgm:t>
    </dgm:pt>
    <dgm:pt modelId="{549A0732-C80C-45ED-8FEA-7B8458F65065}">
      <dgm:prSet/>
      <dgm:spPr/>
      <dgm:t>
        <a:bodyPr/>
        <a:lstStyle/>
        <a:p>
          <a:r>
            <a:rPr lang="en-US" b="1" i="0" baseline="0" dirty="0"/>
            <a:t>Quality Control Audit:</a:t>
          </a:r>
          <a:r>
            <a:rPr lang="en-US" b="0" i="0" baseline="0" dirty="0"/>
            <a:t> Immediately audit the supply chain for </a:t>
          </a:r>
          <a:r>
            <a:rPr lang="en-US" b="1" i="0" baseline="0" dirty="0"/>
            <a:t>Home &amp; Kitchen</a:t>
          </a:r>
          <a:r>
            <a:rPr lang="en-US" b="0" i="0" baseline="0" dirty="0"/>
            <a:t> brands identified in the SQL ranking with 5.2%+ return rates to recover $30K+ in annual leakage.</a:t>
          </a:r>
          <a:endParaRPr lang="en-IN" dirty="0"/>
        </a:p>
      </dgm:t>
    </dgm:pt>
    <dgm:pt modelId="{DE351564-9950-469B-B7BF-C0A6C4ED9B1E}" type="sibTrans" cxnId="{F19D46C0-9F79-4081-85C0-7C3E53B425B6}">
      <dgm:prSet/>
      <dgm:spPr/>
      <dgm:t>
        <a:bodyPr/>
        <a:lstStyle/>
        <a:p>
          <a:endParaRPr lang="en-IN"/>
        </a:p>
      </dgm:t>
    </dgm:pt>
    <dgm:pt modelId="{B6475A6B-3137-421E-A496-06203B680E5E}" type="parTrans" cxnId="{F19D46C0-9F79-4081-85C0-7C3E53B425B6}">
      <dgm:prSet/>
      <dgm:spPr/>
      <dgm:t>
        <a:bodyPr/>
        <a:lstStyle/>
        <a:p>
          <a:endParaRPr lang="en-IN"/>
        </a:p>
      </dgm:t>
    </dgm:pt>
    <dgm:pt modelId="{92A12B3E-60D9-4280-B056-B6B7A8A24499}" type="pres">
      <dgm:prSet presAssocID="{3E300C28-E4C5-4079-93B5-977DED20CDDF}" presName="linearFlow" presStyleCnt="0">
        <dgm:presLayoutVars>
          <dgm:dir/>
          <dgm:resizeHandles val="exact"/>
        </dgm:presLayoutVars>
      </dgm:prSet>
      <dgm:spPr/>
    </dgm:pt>
    <dgm:pt modelId="{73B830A3-837F-42B0-9B59-EAB578719DA9}" type="pres">
      <dgm:prSet presAssocID="{1C9D63B5-DBBF-40B9-AD2F-2EEE6307143A}" presName="composite" presStyleCnt="0"/>
      <dgm:spPr/>
    </dgm:pt>
    <dgm:pt modelId="{493D1D8F-E69B-4998-A796-25667AF2BCE6}" type="pres">
      <dgm:prSet presAssocID="{1C9D63B5-DBBF-40B9-AD2F-2EEE6307143A}" presName="imgShp" presStyleLbl="fgImgPlace1" presStyleIdx="0" presStyleCnt="4"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C26B4FBC-1500-4D9E-9BD0-A8CBE119D779}" type="pres">
      <dgm:prSet presAssocID="{1C9D63B5-DBBF-40B9-AD2F-2EEE6307143A}" presName="txShp" presStyleLbl="node1" presStyleIdx="0" presStyleCnt="4">
        <dgm:presLayoutVars>
          <dgm:bulletEnabled val="1"/>
        </dgm:presLayoutVars>
      </dgm:prSet>
      <dgm:spPr/>
    </dgm:pt>
    <dgm:pt modelId="{6F14850D-195F-4ABA-AE05-B102ACF5F422}" type="pres">
      <dgm:prSet presAssocID="{3D298A35-8A92-4A54-9400-097202FE8776}" presName="spacing" presStyleCnt="0"/>
      <dgm:spPr/>
    </dgm:pt>
    <dgm:pt modelId="{6CEECEBA-1920-41A9-B4E6-38272B222FA5}" type="pres">
      <dgm:prSet presAssocID="{549A0732-C80C-45ED-8FEA-7B8458F65065}" presName="composite" presStyleCnt="0"/>
      <dgm:spPr/>
    </dgm:pt>
    <dgm:pt modelId="{1385E08F-BC6C-46EA-AE8B-3F2DD58825A9}" type="pres">
      <dgm:prSet presAssocID="{549A0732-C80C-45ED-8FEA-7B8458F65065}" presName="imgShp" presStyleLbl="fgImgPlace1" presStyleIdx="1" presStyleCnt="4"/>
      <dgm:spPr>
        <a:blipFill>
          <a:blip xmlns:r="http://schemas.openxmlformats.org/officeDocument/2006/relationships" r:embed="rId2"/>
          <a:srcRect/>
          <a:stretch>
            <a:fillRect l="-58000" r="-58000"/>
          </a:stretch>
        </a:blipFill>
      </dgm:spPr>
    </dgm:pt>
    <dgm:pt modelId="{DB6473B4-D984-46A1-9932-0D916CB58C17}" type="pres">
      <dgm:prSet presAssocID="{549A0732-C80C-45ED-8FEA-7B8458F65065}" presName="txShp" presStyleLbl="node1" presStyleIdx="1" presStyleCnt="4" custLinFactNeighborX="-130">
        <dgm:presLayoutVars>
          <dgm:bulletEnabled val="1"/>
        </dgm:presLayoutVars>
      </dgm:prSet>
      <dgm:spPr/>
    </dgm:pt>
    <dgm:pt modelId="{C80F290C-90E8-4259-84FA-1A7FEAAF3060}" type="pres">
      <dgm:prSet presAssocID="{DE351564-9950-469B-B7BF-C0A6C4ED9B1E}" presName="spacing" presStyleCnt="0"/>
      <dgm:spPr/>
    </dgm:pt>
    <dgm:pt modelId="{A41EDEDF-1936-4CBA-9F99-C8DA0B73335C}" type="pres">
      <dgm:prSet presAssocID="{F48A4E19-B8ED-4C28-9431-AB9157D73090}" presName="composite" presStyleCnt="0"/>
      <dgm:spPr/>
    </dgm:pt>
    <dgm:pt modelId="{8E9596C1-611F-43EE-8933-DF54F7081C0B}" type="pres">
      <dgm:prSet presAssocID="{F48A4E19-B8ED-4C28-9431-AB9157D73090}" presName="imgShp" presStyleLbl="fgImgPlace1" presStyleIdx="2" presStyleCnt="4"/>
      <dgm:spPr>
        <a:blipFill>
          <a:blip xmlns:r="http://schemas.openxmlformats.org/officeDocument/2006/relationships" r:embed="rId3"/>
          <a:srcRect/>
          <a:stretch>
            <a:fillRect l="-25000" r="-25000"/>
          </a:stretch>
        </a:blipFill>
      </dgm:spPr>
    </dgm:pt>
    <dgm:pt modelId="{774397A6-ECFC-4AAC-88B8-208F44F31E8C}" type="pres">
      <dgm:prSet presAssocID="{F48A4E19-B8ED-4C28-9431-AB9157D73090}" presName="txShp" presStyleLbl="node1" presStyleIdx="2" presStyleCnt="4">
        <dgm:presLayoutVars>
          <dgm:bulletEnabled val="1"/>
        </dgm:presLayoutVars>
      </dgm:prSet>
      <dgm:spPr/>
    </dgm:pt>
    <dgm:pt modelId="{CCDF7D4A-256E-407F-B58C-85214B09F299}" type="pres">
      <dgm:prSet presAssocID="{DDB7FD01-6635-4B5C-B6DA-E2A0D30C9A71}" presName="spacing" presStyleCnt="0"/>
      <dgm:spPr/>
    </dgm:pt>
    <dgm:pt modelId="{FBFF3D51-AF06-4435-9C6F-C0930D726178}" type="pres">
      <dgm:prSet presAssocID="{7314CDA2-3C58-45ED-A6C8-968A5141C90B}" presName="composite" presStyleCnt="0"/>
      <dgm:spPr/>
    </dgm:pt>
    <dgm:pt modelId="{A484D468-D7AB-440A-AC21-B715B715C83F}" type="pres">
      <dgm:prSet presAssocID="{7314CDA2-3C58-45ED-A6C8-968A5141C90B}" presName="imgShp" presStyleLbl="fgImgPlace1" presStyleIdx="3" presStyleCnt="4"/>
      <dgm:spPr>
        <a:blipFill>
          <a:blip xmlns:r="http://schemas.openxmlformats.org/officeDocument/2006/relationships" r:embed="rId4"/>
          <a:srcRect/>
          <a:stretch>
            <a:fillRect/>
          </a:stretch>
        </a:blipFill>
      </dgm:spPr>
    </dgm:pt>
    <dgm:pt modelId="{B2614B11-ED9C-4013-B1BC-DA4099CC704C}" type="pres">
      <dgm:prSet presAssocID="{7314CDA2-3C58-45ED-A6C8-968A5141C90B}" presName="txShp" presStyleLbl="node1" presStyleIdx="3" presStyleCnt="4">
        <dgm:presLayoutVars>
          <dgm:bulletEnabled val="1"/>
        </dgm:presLayoutVars>
      </dgm:prSet>
      <dgm:spPr/>
    </dgm:pt>
  </dgm:ptLst>
  <dgm:cxnLst>
    <dgm:cxn modelId="{2E9E373E-E867-4F99-B16A-6130601BE4AB}" type="presOf" srcId="{549A0732-C80C-45ED-8FEA-7B8458F65065}" destId="{DB6473B4-D984-46A1-9932-0D916CB58C17}" srcOrd="0" destOrd="0" presId="urn:microsoft.com/office/officeart/2005/8/layout/vList3"/>
    <dgm:cxn modelId="{953B4765-1356-4E41-A722-696D11C83560}" type="presOf" srcId="{1C9D63B5-DBBF-40B9-AD2F-2EEE6307143A}" destId="{C26B4FBC-1500-4D9E-9BD0-A8CBE119D779}" srcOrd="0" destOrd="0" presId="urn:microsoft.com/office/officeart/2005/8/layout/vList3"/>
    <dgm:cxn modelId="{ACBB0F6A-6AA4-4879-A8C5-1C79A21A96C4}" type="presOf" srcId="{3E300C28-E4C5-4079-93B5-977DED20CDDF}" destId="{92A12B3E-60D9-4280-B056-B6B7A8A24499}" srcOrd="0" destOrd="0" presId="urn:microsoft.com/office/officeart/2005/8/layout/vList3"/>
    <dgm:cxn modelId="{20248D7B-E6BE-42AB-8397-AFAD9987B871}" type="presOf" srcId="{F48A4E19-B8ED-4C28-9431-AB9157D73090}" destId="{774397A6-ECFC-4AAC-88B8-208F44F31E8C}" srcOrd="0" destOrd="0" presId="urn:microsoft.com/office/officeart/2005/8/layout/vList3"/>
    <dgm:cxn modelId="{2FD7C98A-332B-49A6-B121-5730ABFE3319}" srcId="{3E300C28-E4C5-4079-93B5-977DED20CDDF}" destId="{F48A4E19-B8ED-4C28-9431-AB9157D73090}" srcOrd="2" destOrd="0" parTransId="{346B6738-2CCE-4E90-8D19-F8821966CDDB}" sibTransId="{DDB7FD01-6635-4B5C-B6DA-E2A0D30C9A71}"/>
    <dgm:cxn modelId="{C9DC868E-33CF-4E81-8D7D-CEE8EE2C8EC0}" type="presOf" srcId="{7314CDA2-3C58-45ED-A6C8-968A5141C90B}" destId="{B2614B11-ED9C-4013-B1BC-DA4099CC704C}" srcOrd="0" destOrd="0" presId="urn:microsoft.com/office/officeart/2005/8/layout/vList3"/>
    <dgm:cxn modelId="{F19D46C0-9F79-4081-85C0-7C3E53B425B6}" srcId="{3E300C28-E4C5-4079-93B5-977DED20CDDF}" destId="{549A0732-C80C-45ED-8FEA-7B8458F65065}" srcOrd="1" destOrd="0" parTransId="{B6475A6B-3137-421E-A496-06203B680E5E}" sibTransId="{DE351564-9950-469B-B7BF-C0A6C4ED9B1E}"/>
    <dgm:cxn modelId="{F65F06C7-5C7C-411F-8F69-5B2F03CAE722}" srcId="{3E300C28-E4C5-4079-93B5-977DED20CDDF}" destId="{7314CDA2-3C58-45ED-A6C8-968A5141C90B}" srcOrd="3" destOrd="0" parTransId="{BCCB1BAC-1D98-4EBF-B56B-9CBF3AA0F4C2}" sibTransId="{3CB0E69A-3AD5-4441-8064-4786C14B3CCA}"/>
    <dgm:cxn modelId="{E2E094D3-E54A-4643-9333-6FD0B8B80826}" srcId="{3E300C28-E4C5-4079-93B5-977DED20CDDF}" destId="{1C9D63B5-DBBF-40B9-AD2F-2EEE6307143A}" srcOrd="0" destOrd="0" parTransId="{009BD31E-FB34-4CCF-9192-687309103459}" sibTransId="{3D298A35-8A92-4A54-9400-097202FE8776}"/>
    <dgm:cxn modelId="{1056AE5C-6D30-436E-86F5-B04873D46A93}" type="presParOf" srcId="{92A12B3E-60D9-4280-B056-B6B7A8A24499}" destId="{73B830A3-837F-42B0-9B59-EAB578719DA9}" srcOrd="0" destOrd="0" presId="urn:microsoft.com/office/officeart/2005/8/layout/vList3"/>
    <dgm:cxn modelId="{A28E5474-EBB4-4421-8FC3-CE4A4EFB77C9}" type="presParOf" srcId="{73B830A3-837F-42B0-9B59-EAB578719DA9}" destId="{493D1D8F-E69B-4998-A796-25667AF2BCE6}" srcOrd="0" destOrd="0" presId="urn:microsoft.com/office/officeart/2005/8/layout/vList3"/>
    <dgm:cxn modelId="{A5AC8303-9AC4-46C4-A0ED-C0D1D8F3B611}" type="presParOf" srcId="{73B830A3-837F-42B0-9B59-EAB578719DA9}" destId="{C26B4FBC-1500-4D9E-9BD0-A8CBE119D779}" srcOrd="1" destOrd="0" presId="urn:microsoft.com/office/officeart/2005/8/layout/vList3"/>
    <dgm:cxn modelId="{2EE8B78D-13B7-4ECB-B2E8-EC462AE05B88}" type="presParOf" srcId="{92A12B3E-60D9-4280-B056-B6B7A8A24499}" destId="{6F14850D-195F-4ABA-AE05-B102ACF5F422}" srcOrd="1" destOrd="0" presId="urn:microsoft.com/office/officeart/2005/8/layout/vList3"/>
    <dgm:cxn modelId="{F1EB7332-5365-4EFD-B6AA-8B70E70950E0}" type="presParOf" srcId="{92A12B3E-60D9-4280-B056-B6B7A8A24499}" destId="{6CEECEBA-1920-41A9-B4E6-38272B222FA5}" srcOrd="2" destOrd="0" presId="urn:microsoft.com/office/officeart/2005/8/layout/vList3"/>
    <dgm:cxn modelId="{1BF12F17-185E-47F5-8A07-429DDFB4E5BB}" type="presParOf" srcId="{6CEECEBA-1920-41A9-B4E6-38272B222FA5}" destId="{1385E08F-BC6C-46EA-AE8B-3F2DD58825A9}" srcOrd="0" destOrd="0" presId="urn:microsoft.com/office/officeart/2005/8/layout/vList3"/>
    <dgm:cxn modelId="{BE73FACC-7D99-4488-97CF-547F433922E5}" type="presParOf" srcId="{6CEECEBA-1920-41A9-B4E6-38272B222FA5}" destId="{DB6473B4-D984-46A1-9932-0D916CB58C17}" srcOrd="1" destOrd="0" presId="urn:microsoft.com/office/officeart/2005/8/layout/vList3"/>
    <dgm:cxn modelId="{81A40058-316C-444C-814E-6B3F2698F66C}" type="presParOf" srcId="{92A12B3E-60D9-4280-B056-B6B7A8A24499}" destId="{C80F290C-90E8-4259-84FA-1A7FEAAF3060}" srcOrd="3" destOrd="0" presId="urn:microsoft.com/office/officeart/2005/8/layout/vList3"/>
    <dgm:cxn modelId="{219AC051-1347-44EE-9232-C439ECF0CAE1}" type="presParOf" srcId="{92A12B3E-60D9-4280-B056-B6B7A8A24499}" destId="{A41EDEDF-1936-4CBA-9F99-C8DA0B73335C}" srcOrd="4" destOrd="0" presId="urn:microsoft.com/office/officeart/2005/8/layout/vList3"/>
    <dgm:cxn modelId="{22C75236-3BE9-4D2E-96B6-16E288716D12}" type="presParOf" srcId="{A41EDEDF-1936-4CBA-9F99-C8DA0B73335C}" destId="{8E9596C1-611F-43EE-8933-DF54F7081C0B}" srcOrd="0" destOrd="0" presId="urn:microsoft.com/office/officeart/2005/8/layout/vList3"/>
    <dgm:cxn modelId="{89581D4F-367F-4218-BE05-DA1628ED9E90}" type="presParOf" srcId="{A41EDEDF-1936-4CBA-9F99-C8DA0B73335C}" destId="{774397A6-ECFC-4AAC-88B8-208F44F31E8C}" srcOrd="1" destOrd="0" presId="urn:microsoft.com/office/officeart/2005/8/layout/vList3"/>
    <dgm:cxn modelId="{F984F722-7A51-4F82-9B23-9438544A3B82}" type="presParOf" srcId="{92A12B3E-60D9-4280-B056-B6B7A8A24499}" destId="{CCDF7D4A-256E-407F-B58C-85214B09F299}" srcOrd="5" destOrd="0" presId="urn:microsoft.com/office/officeart/2005/8/layout/vList3"/>
    <dgm:cxn modelId="{4D1D0735-43A1-4466-A2A4-357E9A5C702F}" type="presParOf" srcId="{92A12B3E-60D9-4280-B056-B6B7A8A24499}" destId="{FBFF3D51-AF06-4435-9C6F-C0930D726178}" srcOrd="6" destOrd="0" presId="urn:microsoft.com/office/officeart/2005/8/layout/vList3"/>
    <dgm:cxn modelId="{57E97F57-024F-420D-BAA2-70FFF45A3AB4}" type="presParOf" srcId="{FBFF3D51-AF06-4435-9C6F-C0930D726178}" destId="{A484D468-D7AB-440A-AC21-B715B715C83F}" srcOrd="0" destOrd="0" presId="urn:microsoft.com/office/officeart/2005/8/layout/vList3"/>
    <dgm:cxn modelId="{6A05B2A6-941F-45BC-A0DC-85C7072923F6}" type="presParOf" srcId="{FBFF3D51-AF06-4435-9C6F-C0930D726178}" destId="{B2614B11-ED9C-4013-B1BC-DA4099CC704C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C38B55-4406-4658-A58C-5496C17B68B8}">
      <dsp:nvSpPr>
        <dsp:cNvPr id="0" name=""/>
        <dsp:cNvSpPr/>
      </dsp:nvSpPr>
      <dsp:spPr>
        <a:xfrm>
          <a:off x="0" y="1039144"/>
          <a:ext cx="9603275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580294-A795-4DA1-87F5-D126E5684D05}">
      <dsp:nvSpPr>
        <dsp:cNvPr id="0" name=""/>
        <dsp:cNvSpPr/>
      </dsp:nvSpPr>
      <dsp:spPr>
        <a:xfrm>
          <a:off x="479694" y="92736"/>
          <a:ext cx="6715727" cy="11235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87" tIns="0" rIns="254087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Phase 1: Python (Cleaning &amp; Engineering):</a:t>
          </a:r>
          <a:r>
            <a:rPr lang="en-US" sz="1400" kern="1200" dirty="0"/>
            <a:t> Handled 800+ customers and 3,000 orders. Fixed leap-year date errors and imputed missing ages by gender-median.</a:t>
          </a:r>
          <a:endParaRPr lang="en-IN" sz="1400" kern="1200" dirty="0"/>
        </a:p>
      </dsp:txBody>
      <dsp:txXfrm>
        <a:off x="534540" y="147582"/>
        <a:ext cx="6606035" cy="1013836"/>
      </dsp:txXfrm>
    </dsp:sp>
    <dsp:sp modelId="{FCC7A61E-5170-435D-A5BA-7E96E3ACBD5B}">
      <dsp:nvSpPr>
        <dsp:cNvPr id="0" name=""/>
        <dsp:cNvSpPr/>
      </dsp:nvSpPr>
      <dsp:spPr>
        <a:xfrm>
          <a:off x="0" y="2195623"/>
          <a:ext cx="9603275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96180A-09DE-4857-971B-9683710DA584}">
      <dsp:nvSpPr>
        <dsp:cNvPr id="0" name=""/>
        <dsp:cNvSpPr/>
      </dsp:nvSpPr>
      <dsp:spPr>
        <a:xfrm>
          <a:off x="479694" y="1406344"/>
          <a:ext cx="6715727" cy="96639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87" tIns="0" rIns="254087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Phase 2: SQL Server (Analysis):</a:t>
          </a:r>
          <a:r>
            <a:rPr lang="en-US" sz="1400" kern="1200" dirty="0"/>
            <a:t> Migrated cleaned data to a relational DB. Executed complex queries (Joins, CTEs, Window Functions) to identify the $516K annual revenue vs. total sales.</a:t>
          </a:r>
          <a:endParaRPr lang="en-IN" sz="1400" kern="1200" dirty="0"/>
        </a:p>
      </dsp:txBody>
      <dsp:txXfrm>
        <a:off x="526870" y="1453520"/>
        <a:ext cx="6621375" cy="872046"/>
      </dsp:txXfrm>
    </dsp:sp>
    <dsp:sp modelId="{908599EA-6ED3-460D-917C-2C9F45214472}">
      <dsp:nvSpPr>
        <dsp:cNvPr id="0" name=""/>
        <dsp:cNvSpPr/>
      </dsp:nvSpPr>
      <dsp:spPr>
        <a:xfrm>
          <a:off x="0" y="3527815"/>
          <a:ext cx="9603275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E84CED-D9C8-44F4-A025-01DA8A20FC26}">
      <dsp:nvSpPr>
        <dsp:cNvPr id="0" name=""/>
        <dsp:cNvSpPr/>
      </dsp:nvSpPr>
      <dsp:spPr>
        <a:xfrm>
          <a:off x="479694" y="2562823"/>
          <a:ext cx="6715727" cy="11421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87" tIns="0" rIns="254087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Phase 3: Power BI (Visualization):</a:t>
          </a:r>
          <a:r>
            <a:rPr lang="en-US" sz="1400" kern="1200" dirty="0"/>
            <a:t> Created a Star Schema model with DAX measures for </a:t>
          </a:r>
          <a:r>
            <a:rPr lang="en-US" sz="1400" b="1" kern="1200" dirty="0"/>
            <a:t>Churn Rate</a:t>
          </a:r>
          <a:r>
            <a:rPr lang="en-US" sz="1400" kern="1200" dirty="0"/>
            <a:t> and </a:t>
          </a:r>
          <a:r>
            <a:rPr lang="en-US" sz="1400" b="1" kern="1200" dirty="0"/>
            <a:t>90-Day Activity</a:t>
          </a:r>
          <a:r>
            <a:rPr lang="en-US" sz="1400" kern="1200" dirty="0"/>
            <a:t>.</a:t>
          </a:r>
          <a:endParaRPr lang="en-IN" sz="1400" kern="1200" dirty="0"/>
        </a:p>
      </dsp:txBody>
      <dsp:txXfrm>
        <a:off x="535447" y="2618576"/>
        <a:ext cx="6604221" cy="10306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FE39F3-C2E1-43C5-BE6A-1F50EF07C923}">
      <dsp:nvSpPr>
        <dsp:cNvPr id="0" name=""/>
        <dsp:cNvSpPr/>
      </dsp:nvSpPr>
      <dsp:spPr>
        <a:xfrm>
          <a:off x="0" y="0"/>
          <a:ext cx="2349909" cy="2349909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94AF7A-DFB2-4A9D-A388-17AB7A641F09}">
      <dsp:nvSpPr>
        <dsp:cNvPr id="0" name=""/>
        <dsp:cNvSpPr/>
      </dsp:nvSpPr>
      <dsp:spPr>
        <a:xfrm>
          <a:off x="1174954" y="0"/>
          <a:ext cx="10623755" cy="234990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/>
            <a:t>Top Performers:</a:t>
          </a:r>
          <a:r>
            <a:rPr lang="en-US" sz="1800" b="0" i="0" kern="1200" baseline="0" dirty="0"/>
            <a:t> Identified </a:t>
          </a:r>
          <a:r>
            <a:rPr lang="en-US" sz="1800" b="1" i="0" kern="1200" baseline="0" dirty="0"/>
            <a:t>BrandC House</a:t>
          </a:r>
          <a:r>
            <a:rPr lang="en-US" sz="1800" b="0" i="0" kern="1200" baseline="0" dirty="0"/>
            <a:t> (40 units) and </a:t>
          </a:r>
          <a:r>
            <a:rPr lang="en-US" sz="1800" b="1" i="0" kern="1200" baseline="0" dirty="0"/>
            <a:t>BrandA Feel</a:t>
          </a:r>
          <a:r>
            <a:rPr lang="en-US" sz="1800" b="0" i="0" kern="1200" baseline="0" dirty="0"/>
            <a:t> (33 units) as high-turnover traffic drivers.</a:t>
          </a:r>
          <a:endParaRPr lang="en-IN" sz="1800" kern="1200" dirty="0"/>
        </a:p>
      </dsp:txBody>
      <dsp:txXfrm>
        <a:off x="1174954" y="0"/>
        <a:ext cx="10623755" cy="704974"/>
      </dsp:txXfrm>
    </dsp:sp>
    <dsp:sp modelId="{1B571BF4-2150-4FA6-B4EC-9819593832E0}">
      <dsp:nvSpPr>
        <dsp:cNvPr id="0" name=""/>
        <dsp:cNvSpPr/>
      </dsp:nvSpPr>
      <dsp:spPr>
        <a:xfrm>
          <a:off x="411234" y="704974"/>
          <a:ext cx="1527439" cy="1527439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550C22-0BF9-42E6-95AE-EBFB13C8A7EC}">
      <dsp:nvSpPr>
        <dsp:cNvPr id="0" name=""/>
        <dsp:cNvSpPr/>
      </dsp:nvSpPr>
      <dsp:spPr>
        <a:xfrm>
          <a:off x="1174954" y="704974"/>
          <a:ext cx="10623755" cy="152743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/>
            <a:t>Operational Risk:</a:t>
          </a:r>
          <a:r>
            <a:rPr lang="en-US" sz="1800" b="0" i="0" kern="1200" baseline="0" dirty="0"/>
            <a:t> Used SQL to pinpoint that </a:t>
          </a:r>
          <a:r>
            <a:rPr lang="en-US" sz="1800" b="1" i="0" kern="1200" baseline="0" dirty="0"/>
            <a:t>Home &amp; Kitchen</a:t>
          </a:r>
          <a:r>
            <a:rPr lang="en-US" sz="1800" b="0" i="0" kern="1200" baseline="0" dirty="0"/>
            <a:t> have the highest return rate (5.2%), identifying specific "Profit Killers."</a:t>
          </a:r>
          <a:endParaRPr lang="en-IN" sz="1800" kern="1200" dirty="0"/>
        </a:p>
      </dsp:txBody>
      <dsp:txXfrm>
        <a:off x="1174954" y="704974"/>
        <a:ext cx="10623755" cy="704971"/>
      </dsp:txXfrm>
    </dsp:sp>
    <dsp:sp modelId="{731E212B-E310-442D-A017-81E2BCCA9F68}">
      <dsp:nvSpPr>
        <dsp:cNvPr id="0" name=""/>
        <dsp:cNvSpPr/>
      </dsp:nvSpPr>
      <dsp:spPr>
        <a:xfrm>
          <a:off x="822468" y="1409946"/>
          <a:ext cx="704971" cy="704971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028C45-C1F9-4371-A65E-E3C6CAE0D5F1}">
      <dsp:nvSpPr>
        <dsp:cNvPr id="0" name=""/>
        <dsp:cNvSpPr/>
      </dsp:nvSpPr>
      <dsp:spPr>
        <a:xfrm>
          <a:off x="1174954" y="1409946"/>
          <a:ext cx="10623755" cy="70497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/>
            <a:t>Customer Value:</a:t>
          </a:r>
          <a:r>
            <a:rPr lang="en-US" sz="1800" b="0" i="0" kern="1200" baseline="0" dirty="0"/>
            <a:t> Verified that top-tier customers like </a:t>
          </a:r>
          <a:r>
            <a:rPr lang="en-US" sz="1800" b="1" i="0" kern="1200" baseline="0" dirty="0"/>
            <a:t>Kathy and Christopher </a:t>
          </a:r>
          <a:r>
            <a:rPr lang="en-US" sz="1800" b="0" i="0" kern="1200" baseline="0" dirty="0"/>
            <a:t>contribute significantly more to net profit through long-term loyalty.</a:t>
          </a:r>
          <a:endParaRPr lang="en-IN" sz="1800" kern="1200" dirty="0"/>
        </a:p>
      </dsp:txBody>
      <dsp:txXfrm>
        <a:off x="1174954" y="1409946"/>
        <a:ext cx="10623755" cy="70497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1E6491-4E6D-48DF-BA7B-41EC650C6103}">
      <dsp:nvSpPr>
        <dsp:cNvPr id="0" name=""/>
        <dsp:cNvSpPr/>
      </dsp:nvSpPr>
      <dsp:spPr>
        <a:xfrm>
          <a:off x="0" y="302293"/>
          <a:ext cx="10596395" cy="327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Revenue Snapshot:</a:t>
          </a:r>
          <a:r>
            <a:rPr lang="en-US" sz="1400" b="0" i="0" kern="1200" baseline="0"/>
            <a:t> Total Lifetime Revenue of </a:t>
          </a:r>
          <a:r>
            <a:rPr lang="en-US" sz="1400" b="1" i="0" kern="1200" baseline="0"/>
            <a:t>$818.1K</a:t>
          </a:r>
          <a:r>
            <a:rPr lang="en-US" sz="1400" b="0" i="0" kern="1200" baseline="0"/>
            <a:t> vs. Last 12 Months of </a:t>
          </a:r>
          <a:r>
            <a:rPr lang="en-US" sz="1400" b="1" i="0" kern="1200" baseline="0"/>
            <a:t>$516.5K</a:t>
          </a:r>
          <a:r>
            <a:rPr lang="en-US" sz="1400" b="0" i="0" kern="1200" baseline="0"/>
            <a:t>.</a:t>
          </a:r>
          <a:endParaRPr lang="en-IN" sz="1400" kern="1200"/>
        </a:p>
      </dsp:txBody>
      <dsp:txXfrm>
        <a:off x="15992" y="318285"/>
        <a:ext cx="10564411" cy="295616"/>
      </dsp:txXfrm>
    </dsp:sp>
    <dsp:sp modelId="{35D7FFE7-C749-46C9-83A4-69CC1CFB4D71}">
      <dsp:nvSpPr>
        <dsp:cNvPr id="0" name=""/>
        <dsp:cNvSpPr/>
      </dsp:nvSpPr>
      <dsp:spPr>
        <a:xfrm>
          <a:off x="0" y="670213"/>
          <a:ext cx="10596395" cy="327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Trend Analysis:</a:t>
          </a:r>
          <a:r>
            <a:rPr lang="en-US" sz="1400" b="0" i="0" kern="1200" baseline="0"/>
            <a:t> Sales peaks identified in February; identified a trend where Online Sales are growing 12% faster than physical store sales.</a:t>
          </a:r>
          <a:endParaRPr lang="en-IN" sz="1400" kern="1200"/>
        </a:p>
      </dsp:txBody>
      <dsp:txXfrm>
        <a:off x="15992" y="686205"/>
        <a:ext cx="10564411" cy="295616"/>
      </dsp:txXfrm>
    </dsp:sp>
    <dsp:sp modelId="{04A8A5C6-B2E9-4870-9FD9-17B5E1F6DEF2}">
      <dsp:nvSpPr>
        <dsp:cNvPr id="0" name=""/>
        <dsp:cNvSpPr/>
      </dsp:nvSpPr>
      <dsp:spPr>
        <a:xfrm>
          <a:off x="0" y="1038133"/>
          <a:ext cx="10596395" cy="327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The Anomaly:</a:t>
          </a:r>
          <a:r>
            <a:rPr lang="en-US" sz="1400" b="0" i="0" kern="1200" baseline="0"/>
            <a:t> Identified that while revenue is high, profit is being leaked through a 67% churn rate in new sign-ups.</a:t>
          </a:r>
          <a:endParaRPr lang="en-IN" sz="1400" kern="1200"/>
        </a:p>
      </dsp:txBody>
      <dsp:txXfrm>
        <a:off x="15992" y="1054125"/>
        <a:ext cx="10564411" cy="2956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0F4815-2667-43EC-B08C-832DCDA356AF}">
      <dsp:nvSpPr>
        <dsp:cNvPr id="0" name=""/>
        <dsp:cNvSpPr/>
      </dsp:nvSpPr>
      <dsp:spPr>
        <a:xfrm>
          <a:off x="3734339" y="1155"/>
          <a:ext cx="4201131" cy="7624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lumMod val="40000"/>
              <a:lumOff val="6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baseline="0" dirty="0"/>
            <a:t>Churn Reality:</a:t>
          </a:r>
          <a:r>
            <a:rPr lang="en-US" sz="1200" b="0" i="0" kern="1200" baseline="0" dirty="0"/>
            <a:t> The 67.4% churn rate is high, but the data reveals that many "churned" users are new sign-ups who never reached their first purchase.</a:t>
          </a:r>
          <a:endParaRPr lang="en-IN" sz="1200" kern="1200" dirty="0"/>
        </a:p>
      </dsp:txBody>
      <dsp:txXfrm>
        <a:off x="3771557" y="38373"/>
        <a:ext cx="4126695" cy="687969"/>
      </dsp:txXfrm>
    </dsp:sp>
    <dsp:sp modelId="{5DD1E430-E3D3-4D06-AA19-75A6005EEC3F}">
      <dsp:nvSpPr>
        <dsp:cNvPr id="0" name=""/>
        <dsp:cNvSpPr/>
      </dsp:nvSpPr>
      <dsp:spPr>
        <a:xfrm>
          <a:off x="3734339" y="801681"/>
          <a:ext cx="4201131" cy="7624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lumMod val="40000"/>
              <a:lumOff val="6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baseline="0" dirty="0"/>
            <a:t>Demographic Split:</a:t>
          </a:r>
          <a:r>
            <a:rPr lang="en-US" sz="1200" b="0" i="0" kern="1200" baseline="0" dirty="0"/>
            <a:t> Females represent the largest customer segment, while the </a:t>
          </a:r>
          <a:r>
            <a:rPr lang="en-US" sz="1200" b="1" i="0" kern="1200" baseline="0" dirty="0"/>
            <a:t>31-45 age group</a:t>
          </a:r>
          <a:r>
            <a:rPr lang="en-US" sz="1200" b="0" i="0" kern="1200" baseline="0" dirty="0"/>
            <a:t> (identified in SQL/Python) provides the highest average transaction value.</a:t>
          </a:r>
          <a:endParaRPr lang="en-IN" sz="1200" kern="1200" dirty="0"/>
        </a:p>
      </dsp:txBody>
      <dsp:txXfrm>
        <a:off x="3771557" y="838899"/>
        <a:ext cx="4126695" cy="687969"/>
      </dsp:txXfrm>
    </dsp:sp>
    <dsp:sp modelId="{8A4C6B79-0A33-4E25-94AF-3ADD73D7050C}">
      <dsp:nvSpPr>
        <dsp:cNvPr id="0" name=""/>
        <dsp:cNvSpPr/>
      </dsp:nvSpPr>
      <dsp:spPr>
        <a:xfrm>
          <a:off x="3734339" y="1602207"/>
          <a:ext cx="4201131" cy="7624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lumMod val="60000"/>
              <a:lumOff val="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baseline="0"/>
            <a:t>Loyalty:</a:t>
          </a:r>
          <a:r>
            <a:rPr lang="en-US" sz="1200" b="0" i="0" kern="1200" baseline="0"/>
            <a:t> A small "Gold" tier of loyalists contributes a disproportionate amount of total profit.</a:t>
          </a:r>
          <a:endParaRPr lang="en-IN" sz="1200" kern="1200"/>
        </a:p>
      </dsp:txBody>
      <dsp:txXfrm>
        <a:off x="3771557" y="1639425"/>
        <a:ext cx="4126695" cy="68796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B113F3-8F28-4394-8F23-F3184152766A}">
      <dsp:nvSpPr>
        <dsp:cNvPr id="0" name=""/>
        <dsp:cNvSpPr/>
      </dsp:nvSpPr>
      <dsp:spPr>
        <a:xfrm>
          <a:off x="2038892" y="2142"/>
          <a:ext cx="2293753" cy="14138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/>
            <a:t>Churn Reality:</a:t>
          </a:r>
          <a:r>
            <a:rPr lang="en-US" sz="1300" b="0" i="0" kern="1200" baseline="0"/>
            <a:t> The 67.4% churn rate is high, but the data reveals that many "churned" users are new sign-ups who never reached their first purchase.</a:t>
          </a:r>
          <a:endParaRPr lang="en-IN" sz="1300" kern="1200"/>
        </a:p>
      </dsp:txBody>
      <dsp:txXfrm>
        <a:off x="2107909" y="71159"/>
        <a:ext cx="2155719" cy="1275791"/>
      </dsp:txXfrm>
    </dsp:sp>
    <dsp:sp modelId="{64C6B6A7-2D5A-454D-9236-FDF22990B951}">
      <dsp:nvSpPr>
        <dsp:cNvPr id="0" name=""/>
        <dsp:cNvSpPr/>
      </dsp:nvSpPr>
      <dsp:spPr>
        <a:xfrm>
          <a:off x="2038892" y="1486658"/>
          <a:ext cx="2293753" cy="14138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/>
            <a:t>Demographic Split:</a:t>
          </a:r>
          <a:r>
            <a:rPr lang="en-US" sz="1300" b="0" i="0" kern="1200" baseline="0"/>
            <a:t> Females represent the largest customer segment, while the </a:t>
          </a:r>
          <a:r>
            <a:rPr lang="en-US" sz="1300" b="1" i="0" kern="1200" baseline="0"/>
            <a:t>31-45 age group</a:t>
          </a:r>
          <a:r>
            <a:rPr lang="en-US" sz="1300" b="0" i="0" kern="1200" baseline="0"/>
            <a:t> (identified in SQL/Python) provides the highest average transaction value.</a:t>
          </a:r>
          <a:endParaRPr lang="en-IN" sz="1300" kern="1200"/>
        </a:p>
      </dsp:txBody>
      <dsp:txXfrm>
        <a:off x="2107909" y="1555675"/>
        <a:ext cx="2155719" cy="1275791"/>
      </dsp:txXfrm>
    </dsp:sp>
    <dsp:sp modelId="{E4809181-77EC-465D-A4B0-920EC1D2955C}">
      <dsp:nvSpPr>
        <dsp:cNvPr id="0" name=""/>
        <dsp:cNvSpPr/>
      </dsp:nvSpPr>
      <dsp:spPr>
        <a:xfrm>
          <a:off x="2038892" y="2971174"/>
          <a:ext cx="2293753" cy="14138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/>
            <a:t>Loyalty:</a:t>
          </a:r>
          <a:r>
            <a:rPr lang="en-US" sz="1300" b="0" i="0" kern="1200" baseline="0"/>
            <a:t> A small "Gold" tier of loyalists contributes a disproportionate amount of total profit.</a:t>
          </a:r>
          <a:endParaRPr lang="en-IN" sz="1300" kern="1200"/>
        </a:p>
      </dsp:txBody>
      <dsp:txXfrm>
        <a:off x="2107909" y="3040191"/>
        <a:ext cx="2155719" cy="127579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CA1E16-2462-418C-91CA-E3B27DAEC900}">
      <dsp:nvSpPr>
        <dsp:cNvPr id="0" name=""/>
        <dsp:cNvSpPr/>
      </dsp:nvSpPr>
      <dsp:spPr>
        <a:xfrm>
          <a:off x="0" y="0"/>
          <a:ext cx="4951135" cy="5230760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3C5487-147A-4CD2-BF2A-275CA2458C13}">
      <dsp:nvSpPr>
        <dsp:cNvPr id="0" name=""/>
        <dsp:cNvSpPr/>
      </dsp:nvSpPr>
      <dsp:spPr>
        <a:xfrm>
          <a:off x="2475567" y="523586"/>
          <a:ext cx="3218238" cy="92968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Key Findings:</a:t>
          </a:r>
          <a:endParaRPr lang="en-IN" sz="1300" kern="1200"/>
        </a:p>
      </dsp:txBody>
      <dsp:txXfrm>
        <a:off x="2520951" y="568970"/>
        <a:ext cx="3127470" cy="838918"/>
      </dsp:txXfrm>
    </dsp:sp>
    <dsp:sp modelId="{88E2CFF1-D3C0-4C7D-8F13-872FAC2A6785}">
      <dsp:nvSpPr>
        <dsp:cNvPr id="0" name=""/>
        <dsp:cNvSpPr/>
      </dsp:nvSpPr>
      <dsp:spPr>
        <a:xfrm>
          <a:off x="2475567" y="1569483"/>
          <a:ext cx="3218238" cy="92968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Financial Leakage:</a:t>
          </a:r>
          <a:r>
            <a:rPr lang="en-US" sz="1300" kern="1200"/>
            <a:t> Returns have resulted in a </a:t>
          </a:r>
          <a:r>
            <a:rPr lang="en-US" sz="1300" b="1" kern="1200"/>
            <a:t>$30.4K loss</a:t>
          </a:r>
          <a:r>
            <a:rPr lang="en-US" sz="1300" kern="1200"/>
            <a:t> in potential revenue.</a:t>
          </a:r>
          <a:endParaRPr lang="en-IN" sz="1300" kern="1200"/>
        </a:p>
      </dsp:txBody>
      <dsp:txXfrm>
        <a:off x="2520951" y="1614867"/>
        <a:ext cx="3127470" cy="838918"/>
      </dsp:txXfrm>
    </dsp:sp>
    <dsp:sp modelId="{402E8210-281B-40DC-BC03-7EA37CB79FFD}">
      <dsp:nvSpPr>
        <dsp:cNvPr id="0" name=""/>
        <dsp:cNvSpPr/>
      </dsp:nvSpPr>
      <dsp:spPr>
        <a:xfrm>
          <a:off x="2475567" y="2615380"/>
          <a:ext cx="3218238" cy="92968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Category Risk:</a:t>
          </a:r>
          <a:r>
            <a:rPr lang="en-US" sz="1300" kern="1200" dirty="0"/>
            <a:t> </a:t>
          </a:r>
          <a:r>
            <a:rPr lang="en-US" sz="1300" b="1" kern="1200" dirty="0"/>
            <a:t>Home &amp; Kitchen</a:t>
          </a:r>
          <a:r>
            <a:rPr lang="en-US" sz="1300" kern="1200" dirty="0"/>
            <a:t> see a 5</a:t>
          </a:r>
          <a:r>
            <a:rPr lang="en-US" sz="1300" b="1" kern="1200" dirty="0"/>
            <a:t>.2% return rate</a:t>
          </a:r>
          <a:r>
            <a:rPr lang="en-US" sz="1300" kern="1200" dirty="0"/>
            <a:t>, significantly higher than Apparel.</a:t>
          </a:r>
          <a:endParaRPr lang="en-IN" sz="1300" kern="1200" dirty="0"/>
        </a:p>
      </dsp:txBody>
      <dsp:txXfrm>
        <a:off x="2520951" y="2660764"/>
        <a:ext cx="3127470" cy="838918"/>
      </dsp:txXfrm>
    </dsp:sp>
    <dsp:sp modelId="{5B1CE42C-4F41-49C2-91A2-AAF8C02A1877}">
      <dsp:nvSpPr>
        <dsp:cNvPr id="0" name=""/>
        <dsp:cNvSpPr/>
      </dsp:nvSpPr>
      <dsp:spPr>
        <a:xfrm>
          <a:off x="2475567" y="3661277"/>
          <a:ext cx="3218238" cy="92968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The "Why":</a:t>
          </a:r>
          <a:r>
            <a:rPr lang="en-US" sz="1300" kern="1200" dirty="0"/>
            <a:t> Over 50% of returns are labeled as </a:t>
          </a:r>
          <a:r>
            <a:rPr lang="en-US" sz="1300" b="1" kern="1200" dirty="0"/>
            <a:t>"Defective"</a:t>
          </a:r>
          <a:r>
            <a:rPr lang="en-US" sz="1300" kern="1200" dirty="0"/>
            <a:t> or </a:t>
          </a:r>
          <a:r>
            <a:rPr lang="en-US" sz="1300" b="1" kern="1200" dirty="0"/>
            <a:t>"Wrong Item,"</a:t>
          </a:r>
          <a:r>
            <a:rPr lang="en-US" sz="1300" kern="1200" dirty="0"/>
            <a:t> pointing to warehouse or supplier quality issues rather than customer change-of-mind.</a:t>
          </a:r>
          <a:endParaRPr lang="en-IN" sz="1300" kern="1200" dirty="0"/>
        </a:p>
      </dsp:txBody>
      <dsp:txXfrm>
        <a:off x="2520951" y="3706661"/>
        <a:ext cx="3127470" cy="83891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EA1524-31AA-4A05-9DB7-BE2B910F6920}">
      <dsp:nvSpPr>
        <dsp:cNvPr id="0" name=""/>
        <dsp:cNvSpPr/>
      </dsp:nvSpPr>
      <dsp:spPr>
        <a:xfrm>
          <a:off x="857262" y="0"/>
          <a:ext cx="9715637" cy="3067664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ED16BF-2E3B-4E5A-88B4-E37CBD49F03D}">
      <dsp:nvSpPr>
        <dsp:cNvPr id="0" name=""/>
        <dsp:cNvSpPr/>
      </dsp:nvSpPr>
      <dsp:spPr>
        <a:xfrm>
          <a:off x="5720" y="920299"/>
          <a:ext cx="2751498" cy="12270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baseline="0"/>
            <a:t>Revenue Protection:</a:t>
          </a:r>
          <a:r>
            <a:rPr lang="en-US" sz="1200" b="0" i="0" kern="1200" baseline="0"/>
            <a:t> Identified a </a:t>
          </a:r>
          <a:r>
            <a:rPr lang="en-US" sz="1200" b="1" i="0" kern="1200" baseline="0"/>
            <a:t>$516K annual revenue</a:t>
          </a:r>
          <a:r>
            <a:rPr lang="en-US" sz="1200" b="0" i="0" kern="1200" baseline="0"/>
            <a:t> stream that requires stabilized retention strategies to maintain.</a:t>
          </a:r>
          <a:endParaRPr lang="en-IN" sz="1200" kern="1200"/>
        </a:p>
      </dsp:txBody>
      <dsp:txXfrm>
        <a:off x="65620" y="980199"/>
        <a:ext cx="2631698" cy="1107265"/>
      </dsp:txXfrm>
    </dsp:sp>
    <dsp:sp modelId="{0985CF14-0DB0-4309-9186-7AE844D602AE}">
      <dsp:nvSpPr>
        <dsp:cNvPr id="0" name=""/>
        <dsp:cNvSpPr/>
      </dsp:nvSpPr>
      <dsp:spPr>
        <a:xfrm>
          <a:off x="2894794" y="920299"/>
          <a:ext cx="2751498" cy="12270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baseline="0"/>
            <a:t>Cost Recovery:</a:t>
          </a:r>
          <a:r>
            <a:rPr lang="en-US" sz="1200" b="0" i="0" kern="1200" baseline="0"/>
            <a:t> Pinpointed </a:t>
          </a:r>
          <a:r>
            <a:rPr lang="en-US" sz="1200" b="1" i="0" kern="1200" baseline="0"/>
            <a:t>$30.4K in return losses</a:t>
          </a:r>
          <a:r>
            <a:rPr lang="en-US" sz="1200" b="0" i="0" kern="1200" baseline="0"/>
            <a:t>; addressing the "Defective" and "Wrong Item" categories offers an immediate path to recovering lost margins.</a:t>
          </a:r>
          <a:endParaRPr lang="en-IN" sz="1200" kern="1200"/>
        </a:p>
      </dsp:txBody>
      <dsp:txXfrm>
        <a:off x="2954694" y="980199"/>
        <a:ext cx="2631698" cy="1107265"/>
      </dsp:txXfrm>
    </dsp:sp>
    <dsp:sp modelId="{21405CAA-8FFA-4CCA-932F-F5CDAC1F144A}">
      <dsp:nvSpPr>
        <dsp:cNvPr id="0" name=""/>
        <dsp:cNvSpPr/>
      </dsp:nvSpPr>
      <dsp:spPr>
        <a:xfrm>
          <a:off x="5783868" y="920299"/>
          <a:ext cx="2751498" cy="12270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baseline="0"/>
            <a:t>Channel Efficiency:</a:t>
          </a:r>
          <a:r>
            <a:rPr lang="en-US" sz="1200" b="0" i="0" kern="1200" baseline="0"/>
            <a:t> Documented a </a:t>
          </a:r>
          <a:r>
            <a:rPr lang="en-US" sz="1200" b="1" i="0" kern="1200" baseline="0"/>
            <a:t>12% higher profit margin</a:t>
          </a:r>
          <a:r>
            <a:rPr lang="en-US" sz="1200" b="0" i="0" kern="1200" baseline="0"/>
            <a:t> in Online vs. In-Store sales, providing a clear roadmap for high-margin budget allocation.</a:t>
          </a:r>
          <a:endParaRPr lang="en-IN" sz="1200" kern="1200"/>
        </a:p>
      </dsp:txBody>
      <dsp:txXfrm>
        <a:off x="5843768" y="980199"/>
        <a:ext cx="2631698" cy="1107265"/>
      </dsp:txXfrm>
    </dsp:sp>
    <dsp:sp modelId="{5FE6AA1E-8F19-4589-90E7-9D2196BCCCD0}">
      <dsp:nvSpPr>
        <dsp:cNvPr id="0" name=""/>
        <dsp:cNvSpPr/>
      </dsp:nvSpPr>
      <dsp:spPr>
        <a:xfrm>
          <a:off x="8672942" y="920299"/>
          <a:ext cx="2751498" cy="12270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baseline="0" dirty="0"/>
            <a:t>High-Value Retention:</a:t>
          </a:r>
          <a:r>
            <a:rPr lang="en-US" sz="1200" b="0" i="0" kern="1200" baseline="0" dirty="0"/>
            <a:t> Identified top-tier loyalists (like Kathy and Christopher) who contribute </a:t>
          </a:r>
          <a:r>
            <a:rPr lang="en-US" sz="1200" b="1" i="0" kern="1200" baseline="0" dirty="0"/>
            <a:t>4x more profit</a:t>
          </a:r>
          <a:r>
            <a:rPr lang="en-US" sz="1200" b="0" i="0" kern="1200" baseline="0" dirty="0"/>
            <a:t> than the average customer, highlighting the financial importance of VIP retention.</a:t>
          </a:r>
          <a:endParaRPr lang="en-IN" sz="1200" kern="1200" dirty="0"/>
        </a:p>
      </dsp:txBody>
      <dsp:txXfrm>
        <a:off x="8732842" y="980199"/>
        <a:ext cx="2631698" cy="110726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6B4FBC-1500-4D9E-9BD0-A8CBE119D779}">
      <dsp:nvSpPr>
        <dsp:cNvPr id="0" name=""/>
        <dsp:cNvSpPr/>
      </dsp:nvSpPr>
      <dsp:spPr>
        <a:xfrm rot="10800000">
          <a:off x="2081728" y="590"/>
          <a:ext cx="7591142" cy="678694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4000"/>
                <a:alpha val="100000"/>
                <a:satMod val="105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99286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Reduce "Zero-Purchase" Churn:</a:t>
          </a:r>
          <a:r>
            <a:rPr lang="en-US" sz="1400" b="0" i="0" kern="1200" baseline="0"/>
            <a:t> Launch a "Welcome" email automation with a 15% discount code for new sign-ups to convert the 67% churn segment into active buyers.</a:t>
          </a:r>
          <a:endParaRPr lang="en-IN" sz="1400" kern="1200"/>
        </a:p>
      </dsp:txBody>
      <dsp:txXfrm rot="10800000">
        <a:off x="2251401" y="590"/>
        <a:ext cx="7421469" cy="678694"/>
      </dsp:txXfrm>
    </dsp:sp>
    <dsp:sp modelId="{493D1D8F-E69B-4998-A796-25667AF2BCE6}">
      <dsp:nvSpPr>
        <dsp:cNvPr id="0" name=""/>
        <dsp:cNvSpPr/>
      </dsp:nvSpPr>
      <dsp:spPr>
        <a:xfrm>
          <a:off x="1742381" y="590"/>
          <a:ext cx="678694" cy="678694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DB6473B4-D984-46A1-9932-0D916CB58C17}">
      <dsp:nvSpPr>
        <dsp:cNvPr id="0" name=""/>
        <dsp:cNvSpPr/>
      </dsp:nvSpPr>
      <dsp:spPr>
        <a:xfrm rot="10800000">
          <a:off x="2071859" y="848958"/>
          <a:ext cx="7591142" cy="678694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4000"/>
                <a:alpha val="100000"/>
                <a:satMod val="105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99286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 dirty="0"/>
            <a:t>Quality Control Audit:</a:t>
          </a:r>
          <a:r>
            <a:rPr lang="en-US" sz="1400" b="0" i="0" kern="1200" baseline="0" dirty="0"/>
            <a:t> Immediately audit the supply chain for </a:t>
          </a:r>
          <a:r>
            <a:rPr lang="en-US" sz="1400" b="1" i="0" kern="1200" baseline="0" dirty="0"/>
            <a:t>Home &amp; Kitchen</a:t>
          </a:r>
          <a:r>
            <a:rPr lang="en-US" sz="1400" b="0" i="0" kern="1200" baseline="0" dirty="0"/>
            <a:t> brands identified in the SQL ranking with 5.2%+ return rates to recover $30K+ in annual leakage.</a:t>
          </a:r>
          <a:endParaRPr lang="en-IN" sz="1400" kern="1200" dirty="0"/>
        </a:p>
      </dsp:txBody>
      <dsp:txXfrm rot="10800000">
        <a:off x="2241532" y="848958"/>
        <a:ext cx="7421469" cy="678694"/>
      </dsp:txXfrm>
    </dsp:sp>
    <dsp:sp modelId="{1385E08F-BC6C-46EA-AE8B-3F2DD58825A9}">
      <dsp:nvSpPr>
        <dsp:cNvPr id="0" name=""/>
        <dsp:cNvSpPr/>
      </dsp:nvSpPr>
      <dsp:spPr>
        <a:xfrm>
          <a:off x="1742381" y="848958"/>
          <a:ext cx="678694" cy="678694"/>
        </a:xfrm>
        <a:prstGeom prst="ellipse">
          <a:avLst/>
        </a:prstGeom>
        <a:blipFill>
          <a:blip xmlns:r="http://schemas.openxmlformats.org/officeDocument/2006/relationships" r:embed="rId2"/>
          <a:srcRect/>
          <a:stretch>
            <a:fillRect l="-58000" r="-58000"/>
          </a:stretch>
        </a:blip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774397A6-ECFC-4AAC-88B8-208F44F31E8C}">
      <dsp:nvSpPr>
        <dsp:cNvPr id="0" name=""/>
        <dsp:cNvSpPr/>
      </dsp:nvSpPr>
      <dsp:spPr>
        <a:xfrm rot="10800000">
          <a:off x="2081728" y="1697327"/>
          <a:ext cx="7591142" cy="678694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4000"/>
                <a:alpha val="100000"/>
                <a:satMod val="105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99286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 dirty="0"/>
            <a:t>Regional Expansion:</a:t>
          </a:r>
          <a:r>
            <a:rPr lang="en-US" sz="1400" b="0" i="0" kern="1200" baseline="0" dirty="0"/>
            <a:t> Prioritize the </a:t>
          </a:r>
          <a:r>
            <a:rPr lang="en-US" sz="1400" b="1" i="0" kern="1200" baseline="0" dirty="0"/>
            <a:t>South</a:t>
          </a:r>
          <a:r>
            <a:rPr lang="en-US" sz="1400" b="0" i="0" kern="1200" baseline="0" dirty="0"/>
            <a:t> and </a:t>
          </a:r>
          <a:r>
            <a:rPr lang="en-US" sz="1400" b="1" i="0" kern="1200" baseline="0" dirty="0"/>
            <a:t>East</a:t>
          </a:r>
          <a:r>
            <a:rPr lang="en-US" sz="1400" b="0" i="0" kern="1200" baseline="0" dirty="0"/>
            <a:t> regions for the next physical flagship stores, while expanding the </a:t>
          </a:r>
          <a:r>
            <a:rPr lang="en-US" sz="1400" b="1" i="0" kern="1200" baseline="0" dirty="0"/>
            <a:t>Online</a:t>
          </a:r>
          <a:r>
            <a:rPr lang="en-US" sz="1400" b="0" i="0" kern="1200" baseline="0" dirty="0"/>
            <a:t> platform to leverage its 12% higher profit margin.</a:t>
          </a:r>
          <a:endParaRPr lang="en-IN" sz="1400" kern="1200" dirty="0"/>
        </a:p>
      </dsp:txBody>
      <dsp:txXfrm rot="10800000">
        <a:off x="2251401" y="1697327"/>
        <a:ext cx="7421469" cy="678694"/>
      </dsp:txXfrm>
    </dsp:sp>
    <dsp:sp modelId="{8E9596C1-611F-43EE-8933-DF54F7081C0B}">
      <dsp:nvSpPr>
        <dsp:cNvPr id="0" name=""/>
        <dsp:cNvSpPr/>
      </dsp:nvSpPr>
      <dsp:spPr>
        <a:xfrm>
          <a:off x="1742381" y="1697327"/>
          <a:ext cx="678694" cy="678694"/>
        </a:xfrm>
        <a:prstGeom prst="ellipse">
          <a:avLst/>
        </a:prstGeom>
        <a:blipFill>
          <a:blip xmlns:r="http://schemas.openxmlformats.org/officeDocument/2006/relationships" r:embed="rId3"/>
          <a:srcRect/>
          <a:stretch>
            <a:fillRect l="-25000" r="-25000"/>
          </a:stretch>
        </a:blip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B2614B11-ED9C-4013-B1BC-DA4099CC704C}">
      <dsp:nvSpPr>
        <dsp:cNvPr id="0" name=""/>
        <dsp:cNvSpPr/>
      </dsp:nvSpPr>
      <dsp:spPr>
        <a:xfrm rot="10800000">
          <a:off x="2081728" y="2545695"/>
          <a:ext cx="7591142" cy="678694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4000"/>
                <a:alpha val="100000"/>
                <a:satMod val="105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99286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 dirty="0"/>
            <a:t>Retention Program:</a:t>
          </a:r>
          <a:r>
            <a:rPr lang="en-US" sz="1400" b="0" i="0" kern="1200" baseline="0" dirty="0"/>
            <a:t> Create a "VIP Tier" for top contributors like </a:t>
          </a:r>
          <a:r>
            <a:rPr lang="en-US" sz="1400" b="1" i="0" kern="1200" baseline="0" dirty="0"/>
            <a:t>Kathy and Christopher</a:t>
          </a:r>
          <a:r>
            <a:rPr lang="en-US" sz="1400" b="0" i="0" kern="1200" baseline="0" dirty="0"/>
            <a:t>, offering early access to new product launches to maximize Customer Lifetime Value (CLV).</a:t>
          </a:r>
          <a:endParaRPr lang="en-IN" sz="1400" kern="1200" dirty="0"/>
        </a:p>
      </dsp:txBody>
      <dsp:txXfrm rot="10800000">
        <a:off x="2251401" y="2545695"/>
        <a:ext cx="7421469" cy="678694"/>
      </dsp:txXfrm>
    </dsp:sp>
    <dsp:sp modelId="{A484D468-D7AB-440A-AC21-B715B715C83F}">
      <dsp:nvSpPr>
        <dsp:cNvPr id="0" name=""/>
        <dsp:cNvSpPr/>
      </dsp:nvSpPr>
      <dsp:spPr>
        <a:xfrm>
          <a:off x="1742381" y="2545695"/>
          <a:ext cx="678694" cy="678694"/>
        </a:xfrm>
        <a:prstGeom prst="ellipse">
          <a:avLst/>
        </a:prstGeom>
        <a:blipFill>
          <a:blip xmlns:r="http://schemas.openxmlformats.org/officeDocument/2006/relationships" r:embed="rId4"/>
          <a:srcRect/>
          <a:stretch>
            <a:fillRect/>
          </a:stretch>
        </a:blip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2F94-E2E4-4D73-97CA-BF745B6AC249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517C3E28-F11E-4079-835A-00CF47CE7B3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1471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2F94-E2E4-4D73-97CA-BF745B6AC249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C3E28-F11E-4079-835A-00CF47CE7B36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3961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2F94-E2E4-4D73-97CA-BF745B6AC249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C3E28-F11E-4079-835A-00CF47CE7B3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28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2F94-E2E4-4D73-97CA-BF745B6AC249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C3E28-F11E-4079-835A-00CF47CE7B36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0038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2F94-E2E4-4D73-97CA-BF745B6AC249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C3E28-F11E-4079-835A-00CF47CE7B36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9058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2F94-E2E4-4D73-97CA-BF745B6AC249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C3E28-F11E-4079-835A-00CF47CE7B36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17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2F94-E2E4-4D73-97CA-BF745B6AC249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C3E28-F11E-4079-835A-00CF47CE7B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156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2F94-E2E4-4D73-97CA-BF745B6AC249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C3E28-F11E-4079-835A-00CF47CE7B36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6996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0A12F94-E2E4-4D73-97CA-BF745B6AC249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C3E28-F11E-4079-835A-00CF47CE7B36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8444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2F94-E2E4-4D73-97CA-BF745B6AC249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C3E28-F11E-4079-835A-00CF47CE7B36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8151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2F94-E2E4-4D73-97CA-BF745B6AC249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C3E28-F11E-4079-835A-00CF47CE7B3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2170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A12F94-E2E4-4D73-97CA-BF745B6AC249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517C3E28-F11E-4079-835A-00CF47CE7B36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4164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8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9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diagramLayout" Target="../diagrams/layout5.xml"/><Relationship Id="rId7" Type="http://schemas.openxmlformats.org/officeDocument/2006/relationships/image" Target="../media/image12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diagramLayout" Target="../diagrams/layout6.xml"/><Relationship Id="rId7" Type="http://schemas.openxmlformats.org/officeDocument/2006/relationships/image" Target="../media/image15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FF121-0836-B683-3D1B-6E900E80FF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79" y="802299"/>
            <a:ext cx="8637073" cy="2009728"/>
          </a:xfrm>
        </p:spPr>
        <p:txBody>
          <a:bodyPr/>
          <a:lstStyle/>
          <a:p>
            <a:pPr algn="ctr"/>
            <a:r>
              <a:rPr lang="en-US" dirty="0"/>
              <a:t>RETAILNOVA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6CB94A-826B-6561-FA28-0E08567E0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531205"/>
            <a:ext cx="8637072" cy="1591402"/>
          </a:xfrm>
        </p:spPr>
        <p:txBody>
          <a:bodyPr>
            <a:normAutofit fontScale="62500" lnSpcReduction="20000"/>
          </a:bodyPr>
          <a:lstStyle/>
          <a:p>
            <a:r>
              <a:rPr lang="en-US" sz="2900" b="1" dirty="0"/>
              <a:t>End-to-End Retail Performance &amp; Behavioral Analytics</a:t>
            </a:r>
          </a:p>
          <a:p>
            <a:r>
              <a:rPr lang="en-US" dirty="0"/>
              <a:t>                           - Empowering Growth Through Data-Driven Retention and Profitability</a:t>
            </a:r>
            <a:br>
              <a:rPr lang="en-US" dirty="0"/>
            </a:br>
            <a:endParaRPr lang="en-US" dirty="0"/>
          </a:p>
          <a:p>
            <a:r>
              <a:rPr lang="en-IN" b="1" dirty="0"/>
              <a:t>Sara Mahesh | Data Analyst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282AAF-AE3D-A7BA-170A-42ED3B9D1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439" y="1612490"/>
            <a:ext cx="1956619" cy="14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4139993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D5E4B-C099-8169-1E0D-410966FA2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br>
              <a:rPr lang="en-US" sz="2800" dirty="0"/>
            </a:br>
            <a:r>
              <a:rPr lang="en-US" sz="2800" dirty="0"/>
              <a:t>Project Goals &amp; Cumulative Business Impact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6BAAA-AA77-5ECB-B5CC-8D0AC066A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Identify Sales Trends &amp; Anomalies</a:t>
            </a:r>
          </a:p>
          <a:p>
            <a:r>
              <a:rPr lang="en-IN" dirty="0"/>
              <a:t>Customer Behavioural Segmentation</a:t>
            </a:r>
          </a:p>
          <a:p>
            <a:r>
              <a:rPr lang="en-IN" dirty="0"/>
              <a:t>Optimize Product &amp; Inventory</a:t>
            </a:r>
          </a:p>
          <a:p>
            <a:r>
              <a:rPr lang="en-IN" dirty="0"/>
              <a:t>Evaluate Store &amp; Regional Performance</a:t>
            </a:r>
          </a:p>
          <a:p>
            <a:r>
              <a:rPr lang="en-IN" dirty="0"/>
              <a:t>Improve Operational Profitability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9053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2691C-D24E-117E-11E4-924C91E2E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US" sz="2400" b="1" dirty="0"/>
            </a:br>
            <a:r>
              <a:rPr lang="en-US" sz="2400" b="1" dirty="0"/>
              <a:t>Business Health: Comprehensive Performance Metrics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32FD1C-F634-A415-0F44-B6D3EB3F9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637" y="2432357"/>
            <a:ext cx="2301439" cy="12513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1D98A0-A0E0-9ED3-7C1D-024C13049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483" y="2432358"/>
            <a:ext cx="2194750" cy="12513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D8E848-4131-DEDC-11C4-C959F7C159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5311" y="2432357"/>
            <a:ext cx="2339543" cy="12513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FF9F23-52D5-ADC4-8152-37F8B4BB87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1097" y="4801900"/>
            <a:ext cx="2086142" cy="11183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7C9518B-CF93-09A8-AAFB-D69A6AFFD9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3411" y="4801900"/>
            <a:ext cx="2086142" cy="1118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786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0D536-6244-8031-91C4-FE3A911BD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668595"/>
            <a:ext cx="9603275" cy="1150373"/>
          </a:xfrm>
        </p:spPr>
        <p:txBody>
          <a:bodyPr>
            <a:normAutofit/>
          </a:bodyPr>
          <a:lstStyle/>
          <a:p>
            <a:pPr algn="ctr"/>
            <a:br>
              <a:rPr lang="en-IN" sz="2800" dirty="0"/>
            </a:br>
            <a:r>
              <a:rPr lang="en-IN" sz="2800" dirty="0"/>
              <a:t>Technical Workflow &amp; Data Pipeline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01550F7-493F-A36C-9E06-75833B939B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4150952"/>
              </p:ext>
            </p:extLst>
          </p:nvPr>
        </p:nvGraphicFramePr>
        <p:xfrm>
          <a:off x="1451579" y="2015732"/>
          <a:ext cx="9603275" cy="39229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32270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AE727-A3C6-A9EF-286A-43F6D17DD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br>
              <a:rPr lang="en-US" sz="2800" dirty="0"/>
            </a:br>
            <a:r>
              <a:rPr lang="en-US" sz="2800" dirty="0"/>
              <a:t>Business Intelligence: The SQL Interrogation</a:t>
            </a:r>
            <a:endParaRPr lang="en-IN" sz="28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ABFAB91-F42A-F472-BEFD-3B0EBB8E52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2241332"/>
              </p:ext>
            </p:extLst>
          </p:nvPr>
        </p:nvGraphicFramePr>
        <p:xfrm>
          <a:off x="167149" y="2536722"/>
          <a:ext cx="11798710" cy="23499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26598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7AAF7-C673-8580-BDE4-C5F14515A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br>
              <a:rPr lang="en-IN" sz="2800" dirty="0"/>
            </a:br>
            <a:r>
              <a:rPr lang="en-IN" sz="2800" dirty="0"/>
              <a:t>Sales Performance &amp; Anomalies</a:t>
            </a:r>
            <a:br>
              <a:rPr lang="en-IN" sz="2800" dirty="0"/>
            </a:br>
            <a:endParaRPr lang="en-IN" sz="28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2563F57-A4E6-54A9-91B7-85C49491B3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7430476"/>
              </p:ext>
            </p:extLst>
          </p:nvPr>
        </p:nvGraphicFramePr>
        <p:xfrm>
          <a:off x="1451579" y="1979525"/>
          <a:ext cx="10596395" cy="16680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B20F8818-AA6C-D276-B797-06E64A828D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7767" y="3516924"/>
            <a:ext cx="5302800" cy="2401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106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32F15-133E-29D4-7790-11B5DFF31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IN" sz="2800" dirty="0"/>
            </a:br>
            <a:r>
              <a:rPr lang="en-IN" sz="2800" dirty="0"/>
              <a:t>Customer Segmentation &amp; BehavioUral Churn</a:t>
            </a:r>
            <a:br>
              <a:rPr lang="en-IN" sz="2800" dirty="0"/>
            </a:br>
            <a:endParaRPr lang="en-IN" sz="280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F3C5D95-17ED-6253-3D41-8795266384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247309"/>
              </p:ext>
            </p:extLst>
          </p:nvPr>
        </p:nvGraphicFramePr>
        <p:xfrm>
          <a:off x="167149" y="2113935"/>
          <a:ext cx="11669810" cy="23657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850A2260-43FD-827B-E512-D2970787FA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149" y="2488358"/>
            <a:ext cx="3604572" cy="19913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43FCB6-796F-5DC9-F4AB-4D11693578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30281" y="4739884"/>
            <a:ext cx="1870287" cy="10906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AA7E715-7BEF-8B17-61CC-C4662967008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5486" y="2411642"/>
            <a:ext cx="3749365" cy="20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463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FB426-4115-1B58-9A84-7F32B94C9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4671" y="255639"/>
            <a:ext cx="9242994" cy="973393"/>
          </a:xfrm>
        </p:spPr>
        <p:txBody>
          <a:bodyPr>
            <a:normAutofit/>
          </a:bodyPr>
          <a:lstStyle/>
          <a:p>
            <a:r>
              <a:rPr lang="en-IN" b="1" dirty="0"/>
              <a:t>Customer Segmentation &amp; BehavioUral Churn</a:t>
            </a:r>
            <a:br>
              <a:rPr lang="en-IN" b="1" dirty="0"/>
            </a:b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F4AE541-FDB4-B68C-611A-B2FCAB335E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2614083"/>
              </p:ext>
            </p:extLst>
          </p:nvPr>
        </p:nvGraphicFramePr>
        <p:xfrm>
          <a:off x="5505830" y="1246742"/>
          <a:ext cx="6371538" cy="43871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3F6FB650-DD14-B9CC-E585-40B4C82A42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4632" y="1021633"/>
            <a:ext cx="3903407" cy="19240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19A818C-4059-47F0-FDA7-935F548A9A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592" y="3523327"/>
            <a:ext cx="4686300" cy="22048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DFDAE14-14C2-C177-0E62-5757850D08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19992" y="1412158"/>
            <a:ext cx="1971675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633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91B58-314F-9909-E686-1215B4E6B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E78D7-CCAD-8EC0-AD61-180D6C506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4671" y="255640"/>
            <a:ext cx="9242994" cy="629264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Product Risk &amp; Return Impact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7E86EB9-D895-05B6-AF8A-DDD2B647C8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5736758"/>
              </p:ext>
            </p:extLst>
          </p:nvPr>
        </p:nvGraphicFramePr>
        <p:xfrm>
          <a:off x="6096001" y="806245"/>
          <a:ext cx="5693806" cy="52307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A5F0EBF9-1AE2-0CE4-C9BF-D4058AA571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406" y="1100780"/>
            <a:ext cx="4118275" cy="17014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3819B7D-F651-8F3A-109B-9BEBE0C7D82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5406" y="3598605"/>
            <a:ext cx="4118275" cy="1779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442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0A614-D681-170C-4ADF-A3B92EDFD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30710"/>
            <a:ext cx="9603275" cy="723044"/>
          </a:xfrm>
        </p:spPr>
        <p:txBody>
          <a:bodyPr/>
          <a:lstStyle/>
          <a:p>
            <a:pPr algn="ctr"/>
            <a:r>
              <a:rPr lang="en-IN" dirty="0"/>
              <a:t>Financial Impact &amp; Risk Mitigation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94870BC4-23D7-895F-E049-FA3A77E4ED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4639128"/>
              </p:ext>
            </p:extLst>
          </p:nvPr>
        </p:nvGraphicFramePr>
        <p:xfrm>
          <a:off x="235975" y="2054942"/>
          <a:ext cx="11430162" cy="3067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1516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1FE25-8109-310C-9618-B243C685F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0547D-1E7E-0313-149E-3172D9098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30710"/>
            <a:ext cx="9603275" cy="723044"/>
          </a:xfrm>
        </p:spPr>
        <p:txBody>
          <a:bodyPr/>
          <a:lstStyle/>
          <a:p>
            <a:pPr algn="ctr"/>
            <a:r>
              <a:rPr lang="en-IN" dirty="0"/>
              <a:t>Strategic Recommendations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E0E85F6-91B1-8EDC-AD77-C7E5BBEAF8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907936"/>
              </p:ext>
            </p:extLst>
          </p:nvPr>
        </p:nvGraphicFramePr>
        <p:xfrm>
          <a:off x="393290" y="2251586"/>
          <a:ext cx="11415252" cy="32249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07791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165D6-4E0B-41F4-9CE8-BFCB3B691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71716"/>
            <a:ext cx="9603275" cy="782038"/>
          </a:xfrm>
        </p:spPr>
        <p:txBody>
          <a:bodyPr/>
          <a:lstStyle/>
          <a:p>
            <a:pPr algn="ctr"/>
            <a:r>
              <a:rPr lang="en-IN" dirty="0"/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E8D5B-E241-0254-9E60-046E3D013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has moved the business from "Reactive" to "Proactive" by centralizing fragmented data into a single source of truth.</a:t>
            </a:r>
          </a:p>
          <a:p>
            <a:r>
              <a:rPr lang="en-US" dirty="0"/>
              <a:t>By optimizing our $818K cumulative base and fixing the $30K return leakage, we have created a scalable model for long-term retail success.</a:t>
            </a:r>
          </a:p>
          <a:p>
            <a:r>
              <a:rPr lang="en-US" b="1" dirty="0"/>
              <a:t>Contact Info</a:t>
            </a:r>
            <a:r>
              <a:rPr lang="en-US" b="1"/>
              <a:t>:</a:t>
            </a:r>
            <a:r>
              <a:rPr lang="en-US"/>
              <a:t>  </a:t>
            </a:r>
            <a:r>
              <a:rPr lang="en-US" b="1" dirty="0"/>
              <a:t>Sara Mahesh</a:t>
            </a:r>
            <a:r>
              <a:rPr lang="en-US" dirty="0"/>
              <a:t> | Data Analyst</a:t>
            </a:r>
          </a:p>
          <a:p>
            <a:r>
              <a:rPr lang="en-US" dirty="0"/>
              <a:t>Email: saramahesh01@gmail.com</a:t>
            </a:r>
          </a:p>
          <a:p>
            <a:r>
              <a:rPr lang="en-US" dirty="0"/>
              <a:t>LinkedIn: [Your Profile Link]</a:t>
            </a:r>
          </a:p>
        </p:txBody>
      </p:sp>
    </p:spTree>
    <p:extLst>
      <p:ext uri="{BB962C8B-B14F-4D97-AF65-F5344CB8AC3E}">
        <p14:creationId xmlns:p14="http://schemas.microsoft.com/office/powerpoint/2010/main" val="248825660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138</TotalTime>
  <Words>855</Words>
  <Application>Microsoft Office PowerPoint</Application>
  <PresentationFormat>Widescreen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Gill Sans MT</vt:lpstr>
      <vt:lpstr>Gallery</vt:lpstr>
      <vt:lpstr>RETAILNOVA</vt:lpstr>
      <vt:lpstr> Project Goals &amp; Cumulative Business Impact</vt:lpstr>
      <vt:lpstr> Business Health: Comprehensive Performance Metrics</vt:lpstr>
      <vt:lpstr> Technical Workflow &amp; Data Pipeline</vt:lpstr>
      <vt:lpstr> Business Intelligence: The SQL Interrogation</vt:lpstr>
      <vt:lpstr> Sales Performance &amp; Anomalies </vt:lpstr>
      <vt:lpstr> Customer Segmentation &amp; BehavioUral Churn </vt:lpstr>
      <vt:lpstr>Customer Segmentation &amp; BehavioUral Churn </vt:lpstr>
      <vt:lpstr>Product Risk &amp; Return Impact</vt:lpstr>
      <vt:lpstr>Financial Impact &amp; Risk Mitigation</vt:lpstr>
      <vt:lpstr>Strategic Recommendations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maheshtoxic44@outlook.com</dc:creator>
  <cp:lastModifiedBy>maheshtoxic44@outlook.com</cp:lastModifiedBy>
  <cp:revision>22</cp:revision>
  <dcterms:created xsi:type="dcterms:W3CDTF">2026-03-04T09:26:39Z</dcterms:created>
  <dcterms:modified xsi:type="dcterms:W3CDTF">2026-03-04T11:47:26Z</dcterms:modified>
</cp:coreProperties>
</file>